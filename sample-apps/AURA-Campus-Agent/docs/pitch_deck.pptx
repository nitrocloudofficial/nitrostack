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9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32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5400" b="1">
                <a:solidFill>
                  <a:srgbClr val="6366F1"/>
                </a:solidFill>
                <a:latin typeface="Outfit"/>
              </a:defRPr>
            </a:pPr>
            <a:r>
              <a:t>AURA: Smart Campus Operations Agent</a:t>
            </a:r>
          </a:p>
          <a:p>
            <a:pPr>
              <a:defRPr sz="2200">
                <a:solidFill>
                  <a:srgbClr val="9CA3AF"/>
                </a:solidFill>
                <a:latin typeface="Inter"/>
              </a:defRPr>
            </a:pPr>
            <a:r>
              <a:t>Chaining multi-domain Model Context Protocol (MCP) servers to automate college life.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3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Outfit"/>
              </a:defRPr>
            </a:pPr>
            <a:r>
              <a:t>The Problem: Fragmented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2000" b="1">
                <a:solidFill>
                  <a:srgbClr val="6366F1"/>
                </a:solidFill>
                <a:latin typeface="Inter"/>
              </a:defRPr>
            </a:pPr>
            <a:r>
              <a:t>Dashboard Fatigue</a:t>
            </a:r>
          </a:p>
          <a:p>
            <a:pPr>
              <a:spcAft>
                <a:spcPts val="1200"/>
              </a:spcAft>
              <a:defRPr sz="1600">
                <a:solidFill>
                  <a:srgbClr val="D1D5DB"/>
                </a:solidFill>
                <a:latin typeface="Inter"/>
              </a:defRPr>
            </a:pPr>
            <a:r>
              <a:t>Existing college ERPs require users to navigate dozens of CRUD forms just to get simple answers or file operations.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 b="1">
                <a:solidFill>
                  <a:srgbClr val="6366F1"/>
                </a:solidFill>
                <a:latin typeface="Inter"/>
              </a:defRPr>
            </a:pPr>
            <a:r>
              <a:t>Siloed Databases</a:t>
            </a:r>
          </a:p>
          <a:p>
            <a:pPr>
              <a:spcAft>
                <a:spcPts val="1200"/>
              </a:spcAft>
              <a:defRPr sz="1600">
                <a:solidFill>
                  <a:srgbClr val="D1D5DB"/>
                </a:solidFill>
                <a:latin typeface="Inter"/>
              </a:defRPr>
            </a:pPr>
            <a:r>
              <a:t>Attendance, Hostel, Library, and Finance are disconnected. Cross-domain policies require manual office coordination.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 b="1">
                <a:solidFill>
                  <a:srgbClr val="6366F1"/>
                </a:solidFill>
                <a:latin typeface="Inter"/>
              </a:defRPr>
            </a:pPr>
            <a:r>
              <a:t>Chatbots Lacking Action</a:t>
            </a:r>
          </a:p>
          <a:p>
            <a:pPr>
              <a:spcAft>
                <a:spcPts val="1200"/>
              </a:spcAft>
              <a:defRPr sz="1600">
                <a:solidFill>
                  <a:srgbClr val="D1D5DB"/>
                </a:solidFill>
                <a:latin typeface="Inter"/>
              </a:defRPr>
            </a:pPr>
            <a:r>
              <a:t>Most AI chatbots are simple read-only question-answering systems that cannot execute updates or take operations.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3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Outfit"/>
              </a:defRPr>
            </a:pPr>
            <a:r>
              <a:t>The Solution: AURA Operations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2000" b="1">
                <a:solidFill>
                  <a:srgbClr val="6366F1"/>
                </a:solidFill>
                <a:latin typeface="Inter"/>
              </a:defRPr>
            </a:pPr>
            <a:r>
              <a:t>Decoupled MCP Architecture</a:t>
            </a:r>
          </a:p>
          <a:p>
            <a:pPr>
              <a:spcAft>
                <a:spcPts val="1200"/>
              </a:spcAft>
              <a:defRPr sz="1600">
                <a:solidFill>
                  <a:srgbClr val="D1D5DB"/>
                </a:solidFill>
                <a:latin typeface="Inter"/>
              </a:defRPr>
            </a:pPr>
            <a:r>
              <a:t>Exposes all 9 campus operations domains as independent Model Context Protocol tool servers.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 b="1">
                <a:solidFill>
                  <a:srgbClr val="6366F1"/>
                </a:solidFill>
                <a:latin typeface="Inter"/>
              </a:defRPr>
            </a:pPr>
            <a:r>
              <a:t>Multi-Domain Tool Chaining</a:t>
            </a:r>
          </a:p>
          <a:p>
            <a:pPr>
              <a:spcAft>
                <a:spcPts val="1200"/>
              </a:spcAft>
              <a:defRPr sz="1600">
                <a:solidFill>
                  <a:srgbClr val="D1D5DB"/>
                </a:solidFill>
                <a:latin typeface="Inter"/>
              </a:defRPr>
            </a:pPr>
            <a:r>
              <a:t>Agent orchestrator reasons across servers, calling multiple tools in sequence to fulfill queries.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 b="1">
                <a:solidFill>
                  <a:srgbClr val="6366F1"/>
                </a:solidFill>
                <a:latin typeface="Inter"/>
              </a:defRPr>
            </a:pPr>
            <a:r>
              <a:t>Actionable Workflows</a:t>
            </a:r>
          </a:p>
          <a:p>
            <a:pPr>
              <a:spcAft>
                <a:spcPts val="1200"/>
              </a:spcAft>
              <a:defRPr sz="1600">
                <a:solidFill>
                  <a:srgbClr val="D1D5DB"/>
                </a:solidFill>
                <a:latin typeface="Inter"/>
              </a:defRPr>
            </a:pPr>
            <a:r>
              <a:t>Includes write-enabled operations (filing complaints, registering leave requests, applying for drives) rather than just reading tables.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3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Outfit"/>
              </a:defRPr>
            </a:pPr>
            <a:r>
              <a:t>Flagship Demo Workflows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2000" b="1">
                <a:solidFill>
                  <a:srgbClr val="6366F1"/>
                </a:solidFill>
                <a:latin typeface="Inter"/>
              </a:defRPr>
            </a:pPr>
            <a:r>
              <a:t>Placement Eligibility Check (Flow A)</a:t>
            </a:r>
          </a:p>
          <a:p>
            <a:pPr>
              <a:spcAft>
                <a:spcPts val="1200"/>
              </a:spcAft>
              <a:defRPr sz="1600">
                <a:solidFill>
                  <a:srgbClr val="D1D5DB"/>
                </a:solidFill>
                <a:latin typeface="Inter"/>
              </a:defRPr>
            </a:pPr>
            <a:r>
              <a:t>Chains Attendance (check percentage) -&gt; Finance (check fee dues) -&gt; Library (check fines) -&gt; Placements (verify CGPA criteria) in one step.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 b="1">
                <a:solidFill>
                  <a:srgbClr val="6366F1"/>
                </a:solidFill>
                <a:latin typeface="Inter"/>
              </a:defRPr>
            </a:pPr>
            <a:r>
              <a:t>Weekend Hostel Outpass Approval (Flow B)</a:t>
            </a:r>
          </a:p>
          <a:p>
            <a:pPr>
              <a:spcAft>
                <a:spcPts val="1200"/>
              </a:spcAft>
              <a:defRPr sz="1600">
                <a:solidFill>
                  <a:srgbClr val="D1D5DB"/>
                </a:solidFill>
                <a:latin typeface="Inter"/>
              </a:defRPr>
            </a:pPr>
            <a:r>
              <a:t>Chains Hostel (get policy) -&gt; Attendance (verify eligibility) -&gt; Complaints (check disciplinary records) -&gt; Hostel (issue approval + write outpass).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 b="1">
                <a:solidFill>
                  <a:srgbClr val="6366F1"/>
                </a:solidFill>
                <a:latin typeface="Inter"/>
              </a:defRPr>
            </a:pPr>
            <a:r>
              <a:t>Timetable watchdog conflict alert (Flow C)</a:t>
            </a:r>
          </a:p>
          <a:p>
            <a:pPr>
              <a:spcAft>
                <a:spcPts val="1200"/>
              </a:spcAft>
              <a:defRPr sz="1600">
                <a:solidFill>
                  <a:srgbClr val="D1D5DB"/>
                </a:solidFill>
                <a:latin typeface="Inter"/>
              </a:defRPr>
            </a:pPr>
            <a:r>
              <a:t>Proactive checks mapping student class slot timings against registered event slots, filing complaints automatically on clash detection.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3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Outfit"/>
              </a:defRPr>
            </a:pPr>
            <a:r>
              <a:t>Architecture &amp; 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2000" b="1">
                <a:solidFill>
                  <a:srgbClr val="6366F1"/>
                </a:solidFill>
                <a:latin typeface="Inter"/>
              </a:defRPr>
            </a:pPr>
            <a:r>
              <a:t>React + Vite Frontend</a:t>
            </a:r>
          </a:p>
          <a:p>
            <a:pPr>
              <a:spcAft>
                <a:spcPts val="1200"/>
              </a:spcAft>
              <a:defRPr sz="1600">
                <a:solidFill>
                  <a:srgbClr val="D1D5DB"/>
                </a:solidFill>
                <a:latin typeface="Inter"/>
              </a:defRPr>
            </a:pPr>
            <a:r>
              <a:t>Features an interactive Agent Console trace log visualization and system-of-record views.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 b="1">
                <a:solidFill>
                  <a:srgbClr val="6366F1"/>
                </a:solidFill>
                <a:latin typeface="Inter"/>
              </a:defRPr>
            </a:pPr>
            <a:r>
              <a:t>FastAPI Orchestrator</a:t>
            </a:r>
          </a:p>
          <a:p>
            <a:pPr>
              <a:spcAft>
                <a:spcPts val="1200"/>
              </a:spcAft>
              <a:defRPr sz="1600">
                <a:solidFill>
                  <a:srgbClr val="D1D5DB"/>
                </a:solidFill>
                <a:latin typeface="Inter"/>
              </a:defRPr>
            </a:pPr>
            <a:r>
              <a:t>Runs as the central client session layer, managing subprocess transport sessions to MCP servers and Anthropic LLM.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 b="1">
                <a:solidFill>
                  <a:srgbClr val="6366F1"/>
                </a:solidFill>
                <a:latin typeface="Inter"/>
              </a:defRPr>
            </a:pPr>
            <a:r>
              <a:t>Model Context Protocol SDK</a:t>
            </a:r>
          </a:p>
          <a:p>
            <a:pPr>
              <a:spcAft>
                <a:spcPts val="1200"/>
              </a:spcAft>
              <a:defRPr sz="1600">
                <a:solidFill>
                  <a:srgbClr val="D1D5DB"/>
                </a:solidFill>
                <a:latin typeface="Inter"/>
              </a:defRPr>
            </a:pPr>
            <a:r>
              <a:t>FastMCP server implementations exposing schemas, JSON resources, and tools dynamically.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