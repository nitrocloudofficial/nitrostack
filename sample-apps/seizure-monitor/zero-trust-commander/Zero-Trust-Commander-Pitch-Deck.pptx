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dev team today is racing to give AI agents more autonomy — because they're genuinely good at finding and fixing problems. But here's the uncomfortable truth: the moment you hand an LLM write access to production, you've created a new attack surface. Zero-Trust-Commander is our answer. It's a security gateway that lets AI move at machine speed on analysis, while every destructive action — every rollback, every write — requires a cryptographically signed human approval. Autonomy without anarchy. Let's show you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genuinely excellent at reading logs, spotting the breaking commit, and proposing a fix. That's the upside. The downside is what happens when we let it act unsupervised: hallucinated fixes, prompt injection, arbitrary code execution against real infrastructure. And the tooling we have today doesn't help — traditional role-based access control is static. It's a binary switch: an agent is either fully trusted with production, or fully locked out. There's no middle ground for something as dynamic and fast-moving as an AI agent. That gap is exactly what we built Zero-Trust-Commander to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built on one principle: least privilege by default. The AI can query system status, fetch recent errors, analyze commits — anything read-only, it does freely and fast. But the moment it wants to do something destructive, like execute_rollback, that call doesn't run. It gets intercepted, and it drops into a PENDING_APPROVAL queue. Nothing executes until a human operator cryptographically signs off with a JWT that's bound to that exact transaction ID and expires on a timer. The AI proposes. The human disposes.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pipeline. The AI agent sends a request — say, a rollback — to our Zero-Trust Gateway. The gateway intercepts it and holds it in a pending queue rather than executing. A human operator reviews it and signs a JWT to approve or deny, either through a CLI command like npm run approve, or through our WebSocket-enabled REST API. Once the gateway verifies that signature, and only then, it executes against production infrastructure. And in parallel, every single step — the request, the hold, the decision, the execution — gets written to an immutable SQLite audit log. Nothing happens off the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thing most AI remediation tools get wrong: they propose a fix without understanding what else it touches. A rollback to the payment gateway doesn't just affect the payment gateway — it cascades to the ledger service, billing API, analytics, notifications, and beyond. So before the AI ever requests a rollback, it runs a breadth-first search across our live service dependency graph and calculates the exact blast radius. That risk map — every downstream service, every hop — gets handed to the human validator alongside the approval request. They're not signing off blind. They're signing off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the actual demo. Our AI agent scans logs and finds a TypeError in broken-app.js — a null reference on a query. It traces the issue back through git-diff and identifies the exact breaking commit. It attempts a rollback — and that's where the gate kicks in. The system issues a unique UUID, halts, and waits. On the human side, the operator reviews the blast radius, runs npm run approve with that UUID, the JWT validates against the pending transaction, and only then does the system safely restore the last stable version. Fast detection, zero blind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this go next? Zero-Trust-Commander is already built for enterprise from day one — audit-ready for SOC2 and ISO27001, and running natively over the Model Context Protocol, so it drops into any MCP-compatible client with a tiny footprint. From here, we're pushing further: decentralized multi-signature authorization for the highest-stakes actions, hardware-key integration with YubiKeys for tamper-proof signing, and policy-driven automated rollbacks for genuinely low-risk changes. The mission stays the same: let AI move at full speed — and never let it move alone.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slideLayout" Target="../slideLayouts/slideLayout1.xml"/><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9692640" y="-1463040"/>
            <a:ext cx="5029200" cy="5029200"/>
          </a:xfrm>
          <a:prstGeom prst="ellipse">
            <a:avLst/>
          </a:prstGeom>
          <a:solidFill>
            <a:srgbClr val="141C2E"/>
          </a:solidFill>
          <a:ln/>
        </p:spPr>
      </p:sp>
      <p:sp>
        <p:nvSpPr>
          <p:cNvPr id="4" name="Shape 2"/>
          <p:cNvSpPr/>
          <p:nvPr/>
        </p:nvSpPr>
        <p:spPr>
          <a:xfrm>
            <a:off x="10698480" y="-457200"/>
            <a:ext cx="3108960" cy="3108960"/>
          </a:xfrm>
          <a:prstGeom prst="ellipse">
            <a:avLst/>
          </a:prstGeom>
          <a:solidFill>
            <a:srgbClr val="0A3D2C"/>
          </a:solidFill>
          <a:ln/>
        </p:spPr>
      </p:sp>
      <p:sp>
        <p:nvSpPr>
          <p:cNvPr id="5" name="Text 3"/>
          <p:cNvSpPr/>
          <p:nvPr/>
        </p:nvSpPr>
        <p:spPr>
          <a:xfrm>
            <a:off x="822960" y="868680"/>
            <a:ext cx="5486400" cy="320040"/>
          </a:xfrm>
          <a:prstGeom prst="rect">
            <a:avLst/>
          </a:prstGeom>
          <a:noFill/>
          <a:ln/>
        </p:spPr>
        <p:txBody>
          <a:bodyPr wrap="square" lIns="0" tIns="0" rIns="0" bIns="0" rtlCol="0" anchor="ctr"/>
          <a:lstStyle/>
          <a:p>
            <a:pPr algn="l" indent="0" marL="0">
              <a:buNone/>
            </a:pPr>
            <a:r>
              <a:rPr lang="en-US" sz="1200" b="1" spc="200" kern="0" dirty="0">
                <a:solidFill>
                  <a:srgbClr val="8B98B0"/>
                </a:solidFill>
                <a:latin typeface="Courier New" pitchFamily="34" charset="0"/>
                <a:ea typeface="Courier New" pitchFamily="34" charset="-122"/>
                <a:cs typeface="Courier New" pitchFamily="34" charset="-120"/>
              </a:rPr>
              <a:t>NITROSTACK MCP  ·  NODE.JS / TYPESCRIPT</a:t>
            </a:r>
            <a:endParaRPr lang="en-US" sz="1200" dirty="0"/>
          </a:p>
        </p:txBody>
      </p:sp>
      <p:sp>
        <p:nvSpPr>
          <p:cNvPr id="6" name="Text 4"/>
          <p:cNvSpPr/>
          <p:nvPr/>
        </p:nvSpPr>
        <p:spPr>
          <a:xfrm>
            <a:off x="777240" y="2148840"/>
            <a:ext cx="9692640" cy="1371600"/>
          </a:xfrm>
          <a:prstGeom prst="rect">
            <a:avLst/>
          </a:prstGeom>
          <a:noFill/>
          <a:ln/>
        </p:spPr>
        <p:txBody>
          <a:bodyPr wrap="square" lIns="0" tIns="0" rIns="0" bIns="0" rtlCol="0" anchor="ctr"/>
          <a:lstStyle/>
          <a:p>
            <a:pPr indent="0" marL="0">
              <a:buNone/>
            </a:pPr>
            <a:r>
              <a:rPr lang="en-US" sz="5000" b="1" spc="100" kern="0" dirty="0">
                <a:solidFill>
                  <a:srgbClr val="F5F7FA"/>
                </a:solidFill>
                <a:latin typeface="Cambria" pitchFamily="34" charset="0"/>
                <a:ea typeface="Cambria" pitchFamily="34" charset="-122"/>
                <a:cs typeface="Cambria" pitchFamily="34" charset="-120"/>
              </a:rPr>
              <a:t>ZERO-TRUST-COMMANDER</a:t>
            </a:r>
            <a:endParaRPr lang="en-US" sz="5000" dirty="0"/>
          </a:p>
        </p:txBody>
      </p:sp>
      <p:sp>
        <p:nvSpPr>
          <p:cNvPr id="7" name="Text 5"/>
          <p:cNvSpPr/>
          <p:nvPr/>
        </p:nvSpPr>
        <p:spPr>
          <a:xfrm>
            <a:off x="822960" y="3310128"/>
            <a:ext cx="8503920" cy="640080"/>
          </a:xfrm>
          <a:prstGeom prst="rect">
            <a:avLst/>
          </a:prstGeom>
          <a:noFill/>
          <a:ln/>
        </p:spPr>
        <p:txBody>
          <a:bodyPr wrap="square" lIns="0" tIns="0" rIns="0" bIns="0" rtlCol="0" anchor="ctr"/>
          <a:lstStyle/>
          <a:p>
            <a:pPr indent="0" marL="0">
              <a:buNone/>
            </a:pPr>
            <a:r>
              <a:rPr lang="en-US" sz="1700" dirty="0">
                <a:solidFill>
                  <a:srgbClr val="8B98B0"/>
                </a:solidFill>
                <a:latin typeface="Calibri" pitchFamily="34" charset="0"/>
                <a:ea typeface="Calibri" pitchFamily="34" charset="-122"/>
                <a:cs typeface="Calibri" pitchFamily="34" charset="-120"/>
              </a:rPr>
              <a:t>Securing Autonomous AI Remediation with Cryptographic Human-in-the-Loop Gates</a:t>
            </a:r>
            <a:endParaRPr lang="en-US" sz="1700" dirty="0"/>
          </a:p>
        </p:txBody>
      </p:sp>
      <p:sp>
        <p:nvSpPr>
          <p:cNvPr id="8" name="Shape 6"/>
          <p:cNvSpPr/>
          <p:nvPr/>
        </p:nvSpPr>
        <p:spPr>
          <a:xfrm>
            <a:off x="841248" y="4160520"/>
            <a:ext cx="2011680" cy="0"/>
          </a:xfrm>
          <a:prstGeom prst="line">
            <a:avLst/>
          </a:prstGeom>
          <a:noFill/>
          <a:ln w="25400">
            <a:solidFill>
              <a:srgbClr val="00F5A0"/>
            </a:solidFill>
            <a:prstDash val="solid"/>
          </a:ln>
        </p:spPr>
      </p:sp>
      <p:sp>
        <p:nvSpPr>
          <p:cNvPr id="9" name="Text 7"/>
          <p:cNvSpPr/>
          <p:nvPr/>
        </p:nvSpPr>
        <p:spPr>
          <a:xfrm>
            <a:off x="822960" y="4315968"/>
            <a:ext cx="8229600" cy="457200"/>
          </a:xfrm>
          <a:prstGeom prst="rect">
            <a:avLst/>
          </a:prstGeom>
          <a:noFill/>
          <a:ln/>
        </p:spPr>
        <p:txBody>
          <a:bodyPr wrap="square" lIns="0" tIns="0" rIns="0" bIns="0" rtlCol="0" anchor="ctr"/>
          <a:lstStyle/>
          <a:p>
            <a:pPr indent="0" marL="0">
              <a:buNone/>
            </a:pPr>
            <a:r>
              <a:rPr lang="en-US" sz="1600" i="1" dirty="0">
                <a:solidFill>
                  <a:srgbClr val="00F5A0"/>
                </a:solidFill>
                <a:latin typeface="Cambria" pitchFamily="34" charset="0"/>
                <a:ea typeface="Cambria" pitchFamily="34" charset="-122"/>
                <a:cs typeface="Cambria" pitchFamily="34" charset="-120"/>
              </a:rPr>
              <a:t>Empowering AI autonomy. Ensuring human authority.</a:t>
            </a:r>
            <a:endParaRPr lang="en-US" sz="1600" dirty="0"/>
          </a:p>
        </p:txBody>
      </p:sp>
      <p:sp>
        <p:nvSpPr>
          <p:cNvPr id="10" name="Shape 8"/>
          <p:cNvSpPr/>
          <p:nvPr/>
        </p:nvSpPr>
        <p:spPr>
          <a:xfrm>
            <a:off x="9006840" y="2331720"/>
            <a:ext cx="1828800" cy="1828800"/>
          </a:xfrm>
          <a:prstGeom prst="ellipse">
            <a:avLst/>
          </a:prstGeom>
          <a:solidFill>
            <a:srgbClr val="0A3D2C"/>
          </a:solidFill>
          <a:ln/>
        </p:spPr>
      </p:sp>
      <p:pic>
        <p:nvPicPr>
          <p:cNvPr id="11" name="Image 0" descr="preencoded.png">    </p:cNvPr>
          <p:cNvPicPr>
            <a:picLocks noChangeAspect="1"/>
          </p:cNvPicPr>
          <p:nvPr/>
        </p:nvPicPr>
        <p:blipFill>
          <a:blip r:embed="rId1"/>
          <a:stretch>
            <a:fillRect/>
          </a:stretch>
        </p:blipFill>
        <p:spPr>
          <a:xfrm>
            <a:off x="9464040" y="2788920"/>
            <a:ext cx="914400" cy="914400"/>
          </a:xfrm>
          <a:prstGeom prst="rect">
            <a:avLst/>
          </a:prstGeom>
        </p:spPr>
      </p:pic>
      <p:sp>
        <p:nvSpPr>
          <p:cNvPr id="12" name="Shape 9"/>
          <p:cNvSpPr/>
          <p:nvPr/>
        </p:nvSpPr>
        <p:spPr>
          <a:xfrm>
            <a:off x="9006840" y="2331720"/>
            <a:ext cx="1828800" cy="1828800"/>
          </a:xfrm>
          <a:prstGeom prst="ellipse">
            <a:avLst/>
          </a:prstGeom>
          <a:ln w="19050">
            <a:solidFill>
              <a:srgbClr val="00F5A0"/>
            </a:solidFill>
            <a:prstDash val="solid"/>
          </a:ln>
        </p:spPr>
      </p:sp>
      <p:sp>
        <p:nvSpPr>
          <p:cNvPr id="13" name="Text 10"/>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14" name="Text 11"/>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HACKATHON PITCH DECK</a:t>
            </a:r>
            <a:endParaRPr lang="en-US" sz="900" dirty="0"/>
          </a:p>
        </p:txBody>
      </p:sp>
      <p:sp>
        <p:nvSpPr>
          <p:cNvPr id="15" name="Text 12"/>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01 / 07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00F5A0"/>
                </a:solidFill>
                <a:latin typeface="Courier New" pitchFamily="34" charset="0"/>
                <a:ea typeface="Courier New" pitchFamily="34" charset="-122"/>
                <a:cs typeface="Courier New" pitchFamily="34" charset="-120"/>
              </a:rPr>
              <a:t>THE PROBLEM</a:t>
            </a:r>
            <a:endParaRPr lang="en-US" sz="1200" dirty="0"/>
          </a:p>
        </p:txBody>
      </p:sp>
      <p:sp>
        <p:nvSpPr>
          <p:cNvPr id="3" name="Text 1"/>
          <p:cNvSpPr/>
          <p:nvPr/>
        </p:nvSpPr>
        <p:spPr>
          <a:xfrm>
            <a:off x="548640" y="786384"/>
            <a:ext cx="11064240" cy="685800"/>
          </a:xfrm>
          <a:prstGeom prst="rect">
            <a:avLst/>
          </a:prstGeom>
          <a:noFill/>
          <a:ln/>
        </p:spPr>
        <p:txBody>
          <a:bodyPr wrap="square" lIns="0" tIns="0" rIns="0" bIns="0" rtlCol="0" anchor="t"/>
          <a:lstStyle/>
          <a:p>
            <a:pPr algn="l" indent="0" marL="0">
              <a:buNone/>
            </a:pPr>
            <a:r>
              <a:rPr lang="en-US" sz="3000" b="1" dirty="0">
                <a:solidFill>
                  <a:srgbClr val="F5F7FA"/>
                </a:solidFill>
                <a:latin typeface="Cambria" pitchFamily="34" charset="0"/>
                <a:ea typeface="Cambria" pitchFamily="34" charset="-122"/>
                <a:cs typeface="Cambria" pitchFamily="34" charset="-120"/>
              </a:rPr>
              <a:t>The Danger of Unrestricted AI Autonomy</a:t>
            </a:r>
            <a:endParaRPr lang="en-US" sz="3000" dirty="0"/>
          </a:p>
        </p:txBody>
      </p:sp>
      <p:sp>
        <p:nvSpPr>
          <p:cNvPr id="4" name="Shape 2"/>
          <p:cNvSpPr/>
          <p:nvPr/>
        </p:nvSpPr>
        <p:spPr>
          <a:xfrm>
            <a:off x="548640" y="1874520"/>
            <a:ext cx="658368" cy="658368"/>
          </a:xfrm>
          <a:prstGeom prst="ellipse">
            <a:avLst/>
          </a:prstGeom>
          <a:solidFill>
            <a:srgbClr val="1B2740"/>
          </a:solidFill>
          <a:ln/>
        </p:spPr>
      </p:sp>
      <p:pic>
        <p:nvPicPr>
          <p:cNvPr id="5" name="Image 0" descr="preencoded.png">    </p:cNvPr>
          <p:cNvPicPr>
            <a:picLocks noChangeAspect="1"/>
          </p:cNvPicPr>
          <p:nvPr/>
        </p:nvPicPr>
        <p:blipFill>
          <a:blip r:embed="rId1"/>
          <a:stretch>
            <a:fillRect/>
          </a:stretch>
        </p:blipFill>
        <p:spPr>
          <a:xfrm>
            <a:off x="713232" y="2039112"/>
            <a:ext cx="329184" cy="329184"/>
          </a:xfrm>
          <a:prstGeom prst="rect">
            <a:avLst/>
          </a:prstGeom>
        </p:spPr>
      </p:pic>
      <p:sp>
        <p:nvSpPr>
          <p:cNvPr id="6" name="Text 3"/>
          <p:cNvSpPr/>
          <p:nvPr/>
        </p:nvSpPr>
        <p:spPr>
          <a:xfrm>
            <a:off x="1417320" y="1856232"/>
            <a:ext cx="5120640" cy="365760"/>
          </a:xfrm>
          <a:prstGeom prst="rect">
            <a:avLst/>
          </a:prstGeom>
          <a:noFill/>
          <a:ln/>
        </p:spPr>
        <p:txBody>
          <a:bodyPr wrap="square" lIns="0" tIns="0" rIns="0" bIns="0" rtlCol="0" anchor="ctr"/>
          <a:lstStyle/>
          <a:p>
            <a:pPr indent="0" marL="0">
              <a:buNone/>
            </a:pPr>
            <a:r>
              <a:rPr lang="en-US" sz="1700" b="1" dirty="0">
                <a:solidFill>
                  <a:srgbClr val="F5F7FA"/>
                </a:solidFill>
                <a:latin typeface="Cambria" pitchFamily="34" charset="0"/>
                <a:ea typeface="Cambria" pitchFamily="34" charset="-122"/>
                <a:cs typeface="Cambria" pitchFamily="34" charset="-120"/>
              </a:rPr>
              <a:t>The AI Rise</a:t>
            </a:r>
            <a:endParaRPr lang="en-US" sz="1700" dirty="0"/>
          </a:p>
        </p:txBody>
      </p:sp>
      <p:sp>
        <p:nvSpPr>
          <p:cNvPr id="7" name="Text 4"/>
          <p:cNvSpPr/>
          <p:nvPr/>
        </p:nvSpPr>
        <p:spPr>
          <a:xfrm>
            <a:off x="1417320" y="2221992"/>
            <a:ext cx="5212080" cy="777240"/>
          </a:xfrm>
          <a:prstGeom prst="rect">
            <a:avLst/>
          </a:prstGeom>
          <a:noFill/>
          <a:ln/>
        </p:spPr>
        <p:txBody>
          <a:bodyPr wrap="square" lIns="0" tIns="0" rIns="0" bIns="0" rtlCol="0" anchor="ctr"/>
          <a:lstStyle/>
          <a:p>
            <a:pPr indent="0" marL="0">
              <a:lnSpc>
                <a:spcPct val="115000"/>
              </a:lnSpc>
              <a:buNone/>
            </a:pPr>
            <a:r>
              <a:rPr lang="en-US" sz="1250" dirty="0">
                <a:solidFill>
                  <a:srgbClr val="8B98B0"/>
                </a:solidFill>
                <a:latin typeface="Calibri" pitchFamily="34" charset="0"/>
                <a:ea typeface="Calibri" pitchFamily="34" charset="-122"/>
                <a:cs typeface="Calibri" pitchFamily="34" charset="-120"/>
              </a:rPr>
              <a:t>LLMs excel at reading logs, spotting bugs, and proposing fixes — faster than any human on-call.</a:t>
            </a:r>
            <a:endParaRPr lang="en-US" sz="1250" dirty="0"/>
          </a:p>
        </p:txBody>
      </p:sp>
      <p:sp>
        <p:nvSpPr>
          <p:cNvPr id="8" name="Shape 5"/>
          <p:cNvSpPr/>
          <p:nvPr/>
        </p:nvSpPr>
        <p:spPr>
          <a:xfrm>
            <a:off x="548640" y="3355848"/>
            <a:ext cx="658368" cy="658368"/>
          </a:xfrm>
          <a:prstGeom prst="ellipse">
            <a:avLst/>
          </a:prstGeom>
          <a:solidFill>
            <a:srgbClr val="1B2740"/>
          </a:solidFill>
          <a:ln/>
        </p:spPr>
      </p:sp>
      <p:pic>
        <p:nvPicPr>
          <p:cNvPr id="9" name="Image 1" descr="preencoded.png">    </p:cNvPr>
          <p:cNvPicPr>
            <a:picLocks noChangeAspect="1"/>
          </p:cNvPicPr>
          <p:nvPr/>
        </p:nvPicPr>
        <p:blipFill>
          <a:blip r:embed="rId2"/>
          <a:stretch>
            <a:fillRect/>
          </a:stretch>
        </p:blipFill>
        <p:spPr>
          <a:xfrm>
            <a:off x="713232" y="3520440"/>
            <a:ext cx="329184" cy="329184"/>
          </a:xfrm>
          <a:prstGeom prst="rect">
            <a:avLst/>
          </a:prstGeom>
        </p:spPr>
      </p:pic>
      <p:sp>
        <p:nvSpPr>
          <p:cNvPr id="10" name="Text 6"/>
          <p:cNvSpPr/>
          <p:nvPr/>
        </p:nvSpPr>
        <p:spPr>
          <a:xfrm>
            <a:off x="1417320" y="3337560"/>
            <a:ext cx="5120640" cy="365760"/>
          </a:xfrm>
          <a:prstGeom prst="rect">
            <a:avLst/>
          </a:prstGeom>
          <a:noFill/>
          <a:ln/>
        </p:spPr>
        <p:txBody>
          <a:bodyPr wrap="square" lIns="0" tIns="0" rIns="0" bIns="0" rtlCol="0" anchor="ctr"/>
          <a:lstStyle/>
          <a:p>
            <a:pPr indent="0" marL="0">
              <a:buNone/>
            </a:pPr>
            <a:r>
              <a:rPr lang="en-US" sz="1700" b="1" dirty="0">
                <a:solidFill>
                  <a:srgbClr val="F5F7FA"/>
                </a:solidFill>
                <a:latin typeface="Cambria" pitchFamily="34" charset="0"/>
                <a:ea typeface="Cambria" pitchFamily="34" charset="-122"/>
                <a:cs typeface="Cambria" pitchFamily="34" charset="-120"/>
              </a:rPr>
              <a:t>The Danger</a:t>
            </a:r>
            <a:endParaRPr lang="en-US" sz="1700" dirty="0"/>
          </a:p>
        </p:txBody>
      </p:sp>
      <p:sp>
        <p:nvSpPr>
          <p:cNvPr id="11" name="Text 7"/>
          <p:cNvSpPr/>
          <p:nvPr/>
        </p:nvSpPr>
        <p:spPr>
          <a:xfrm>
            <a:off x="1417320" y="3703320"/>
            <a:ext cx="5212080" cy="777240"/>
          </a:xfrm>
          <a:prstGeom prst="rect">
            <a:avLst/>
          </a:prstGeom>
          <a:noFill/>
          <a:ln/>
        </p:spPr>
        <p:txBody>
          <a:bodyPr wrap="square" lIns="0" tIns="0" rIns="0" bIns="0" rtlCol="0" anchor="ctr"/>
          <a:lstStyle/>
          <a:p>
            <a:pPr indent="0" marL="0">
              <a:lnSpc>
                <a:spcPct val="115000"/>
              </a:lnSpc>
              <a:buNone/>
            </a:pPr>
            <a:r>
              <a:rPr lang="en-US" sz="1250" dirty="0">
                <a:solidFill>
                  <a:srgbClr val="8B98B0"/>
                </a:solidFill>
                <a:latin typeface="Calibri" pitchFamily="34" charset="0"/>
                <a:ea typeface="Calibri" pitchFamily="34" charset="-122"/>
                <a:cs typeface="Calibri" pitchFamily="34" charset="-120"/>
              </a:rPr>
              <a:t>Direct write access in production invites catastrophe: hallucinations, prompt injection, arbitrary rollbacks.</a:t>
            </a:r>
            <a:endParaRPr lang="en-US" sz="1250" dirty="0"/>
          </a:p>
        </p:txBody>
      </p:sp>
      <p:sp>
        <p:nvSpPr>
          <p:cNvPr id="12" name="Shape 8"/>
          <p:cNvSpPr/>
          <p:nvPr/>
        </p:nvSpPr>
        <p:spPr>
          <a:xfrm>
            <a:off x="548640" y="4837176"/>
            <a:ext cx="658368" cy="658368"/>
          </a:xfrm>
          <a:prstGeom prst="ellipse">
            <a:avLst/>
          </a:prstGeom>
          <a:solidFill>
            <a:srgbClr val="1B2740"/>
          </a:solidFill>
          <a:ln/>
        </p:spPr>
      </p:sp>
      <p:pic>
        <p:nvPicPr>
          <p:cNvPr id="13" name="Image 2" descr="preencoded.png">    </p:cNvPr>
          <p:cNvPicPr>
            <a:picLocks noChangeAspect="1"/>
          </p:cNvPicPr>
          <p:nvPr/>
        </p:nvPicPr>
        <p:blipFill>
          <a:blip r:embed="rId3"/>
          <a:stretch>
            <a:fillRect/>
          </a:stretch>
        </p:blipFill>
        <p:spPr>
          <a:xfrm>
            <a:off x="713232" y="5001768"/>
            <a:ext cx="329184" cy="329184"/>
          </a:xfrm>
          <a:prstGeom prst="rect">
            <a:avLst/>
          </a:prstGeom>
        </p:spPr>
      </p:pic>
      <p:sp>
        <p:nvSpPr>
          <p:cNvPr id="14" name="Text 9"/>
          <p:cNvSpPr/>
          <p:nvPr/>
        </p:nvSpPr>
        <p:spPr>
          <a:xfrm>
            <a:off x="1417320" y="4818888"/>
            <a:ext cx="5120640" cy="365760"/>
          </a:xfrm>
          <a:prstGeom prst="rect">
            <a:avLst/>
          </a:prstGeom>
          <a:noFill/>
          <a:ln/>
        </p:spPr>
        <p:txBody>
          <a:bodyPr wrap="square" lIns="0" tIns="0" rIns="0" bIns="0" rtlCol="0" anchor="ctr"/>
          <a:lstStyle/>
          <a:p>
            <a:pPr indent="0" marL="0">
              <a:buNone/>
            </a:pPr>
            <a:r>
              <a:rPr lang="en-US" sz="1700" b="1" dirty="0">
                <a:solidFill>
                  <a:srgbClr val="F5F7FA"/>
                </a:solidFill>
                <a:latin typeface="Cambria" pitchFamily="34" charset="0"/>
                <a:ea typeface="Cambria" pitchFamily="34" charset="-122"/>
                <a:cs typeface="Cambria" pitchFamily="34" charset="-120"/>
              </a:rPr>
              <a:t>The Gap</a:t>
            </a:r>
            <a:endParaRPr lang="en-US" sz="1700" dirty="0"/>
          </a:p>
        </p:txBody>
      </p:sp>
      <p:sp>
        <p:nvSpPr>
          <p:cNvPr id="15" name="Text 10"/>
          <p:cNvSpPr/>
          <p:nvPr/>
        </p:nvSpPr>
        <p:spPr>
          <a:xfrm>
            <a:off x="1417320" y="5184648"/>
            <a:ext cx="5212080" cy="777240"/>
          </a:xfrm>
          <a:prstGeom prst="rect">
            <a:avLst/>
          </a:prstGeom>
          <a:noFill/>
          <a:ln/>
        </p:spPr>
        <p:txBody>
          <a:bodyPr wrap="square" lIns="0" tIns="0" rIns="0" bIns="0" rtlCol="0" anchor="ctr"/>
          <a:lstStyle/>
          <a:p>
            <a:pPr indent="0" marL="0">
              <a:lnSpc>
                <a:spcPct val="115000"/>
              </a:lnSpc>
              <a:buNone/>
            </a:pPr>
            <a:r>
              <a:rPr lang="en-US" sz="1250" dirty="0">
                <a:solidFill>
                  <a:srgbClr val="8B98B0"/>
                </a:solidFill>
                <a:latin typeface="Calibri" pitchFamily="34" charset="0"/>
                <a:ea typeface="Calibri" pitchFamily="34" charset="-122"/>
                <a:cs typeface="Calibri" pitchFamily="34" charset="-120"/>
              </a:rPr>
              <a:t>Traditional RBAC is static. For dynamic AI actions it is either wide open — or fully blocked.</a:t>
            </a:r>
            <a:endParaRPr lang="en-US" sz="1250" dirty="0"/>
          </a:p>
        </p:txBody>
      </p:sp>
      <p:sp>
        <p:nvSpPr>
          <p:cNvPr id="16" name="Shape 11"/>
          <p:cNvSpPr/>
          <p:nvPr/>
        </p:nvSpPr>
        <p:spPr>
          <a:xfrm>
            <a:off x="7360920" y="1783080"/>
            <a:ext cx="4297680" cy="1920240"/>
          </a:xfrm>
          <a:prstGeom prst="roundRect">
            <a:avLst>
              <a:gd name="adj" fmla="val 4762"/>
            </a:avLst>
          </a:prstGeom>
          <a:solidFill>
            <a:srgbClr val="141C2E"/>
          </a:solidFill>
          <a:ln w="12700">
            <a:solidFill>
              <a:srgbClr val="263352"/>
            </a:solidFill>
            <a:prstDash val="solid"/>
          </a:ln>
        </p:spPr>
      </p:sp>
      <p:sp>
        <p:nvSpPr>
          <p:cNvPr id="17" name="Shape 12"/>
          <p:cNvSpPr/>
          <p:nvPr/>
        </p:nvSpPr>
        <p:spPr>
          <a:xfrm>
            <a:off x="7680960" y="2057400"/>
            <a:ext cx="685800" cy="685800"/>
          </a:xfrm>
          <a:prstGeom prst="ellipse">
            <a:avLst/>
          </a:prstGeom>
          <a:solidFill>
            <a:srgbClr val="0A3D2C"/>
          </a:solidFill>
          <a:ln/>
        </p:spPr>
      </p:sp>
      <p:pic>
        <p:nvPicPr>
          <p:cNvPr id="18" name="Image 3" descr="preencoded.png">    </p:cNvPr>
          <p:cNvPicPr>
            <a:picLocks noChangeAspect="1"/>
          </p:cNvPicPr>
          <p:nvPr/>
        </p:nvPicPr>
        <p:blipFill>
          <a:blip r:embed="rId4"/>
          <a:stretch>
            <a:fillRect/>
          </a:stretch>
        </p:blipFill>
        <p:spPr>
          <a:xfrm>
            <a:off x="7852410" y="2228850"/>
            <a:ext cx="342900" cy="342900"/>
          </a:xfrm>
          <a:prstGeom prst="rect">
            <a:avLst/>
          </a:prstGeom>
        </p:spPr>
      </p:pic>
      <p:sp>
        <p:nvSpPr>
          <p:cNvPr id="19" name="Text 13"/>
          <p:cNvSpPr/>
          <p:nvPr/>
        </p:nvSpPr>
        <p:spPr>
          <a:xfrm>
            <a:off x="8549640" y="2084832"/>
            <a:ext cx="2834640" cy="274320"/>
          </a:xfrm>
          <a:prstGeom prst="rect">
            <a:avLst/>
          </a:prstGeom>
          <a:noFill/>
          <a:ln/>
        </p:spPr>
        <p:txBody>
          <a:bodyPr wrap="square" lIns="0" tIns="0" rIns="0" bIns="0" rtlCol="0" anchor="ctr"/>
          <a:lstStyle/>
          <a:p>
            <a:pPr indent="0" marL="0">
              <a:buNone/>
            </a:pPr>
            <a:r>
              <a:rPr lang="en-US" sz="1100" b="1" spc="100" kern="0" dirty="0">
                <a:solidFill>
                  <a:srgbClr val="00F5A0"/>
                </a:solidFill>
                <a:latin typeface="Courier New" pitchFamily="34" charset="0"/>
                <a:ea typeface="Courier New" pitchFamily="34" charset="-122"/>
                <a:cs typeface="Courier New" pitchFamily="34" charset="-120"/>
              </a:rPr>
              <a:t>SPEED OF AI AUTONOMY</a:t>
            </a:r>
            <a:endParaRPr lang="en-US" sz="1100" dirty="0"/>
          </a:p>
        </p:txBody>
      </p:sp>
      <p:sp>
        <p:nvSpPr>
          <p:cNvPr id="20" name="Text 14"/>
          <p:cNvSpPr/>
          <p:nvPr/>
        </p:nvSpPr>
        <p:spPr>
          <a:xfrm>
            <a:off x="8549640" y="2331720"/>
            <a:ext cx="2834640" cy="685800"/>
          </a:xfrm>
          <a:prstGeom prst="rect">
            <a:avLst/>
          </a:prstGeom>
          <a:noFill/>
          <a:ln/>
        </p:spPr>
        <p:txBody>
          <a:bodyPr wrap="square" lIns="0" tIns="0" rIns="0" bIns="0" rtlCol="0" anchor="ctr"/>
          <a:lstStyle/>
          <a:p>
            <a:pPr indent="0" marL="0">
              <a:buNone/>
            </a:pPr>
            <a:r>
              <a:rPr lang="en-US" sz="4000" b="1" dirty="0">
                <a:solidFill>
                  <a:srgbClr val="F5F7FA"/>
                </a:solidFill>
                <a:latin typeface="Cambria" pitchFamily="34" charset="0"/>
                <a:ea typeface="Cambria" pitchFamily="34" charset="-122"/>
                <a:cs typeface="Cambria" pitchFamily="34" charset="-120"/>
              </a:rPr>
              <a:t>FAST</a:t>
            </a:r>
            <a:endParaRPr lang="en-US" sz="4000" dirty="0"/>
          </a:p>
        </p:txBody>
      </p:sp>
      <p:sp>
        <p:nvSpPr>
          <p:cNvPr id="21" name="Text 15"/>
          <p:cNvSpPr/>
          <p:nvPr/>
        </p:nvSpPr>
        <p:spPr>
          <a:xfrm>
            <a:off x="7680960" y="3246120"/>
            <a:ext cx="3657600" cy="411480"/>
          </a:xfrm>
          <a:prstGeom prst="rect">
            <a:avLst/>
          </a:prstGeom>
          <a:noFill/>
          <a:ln/>
        </p:spPr>
        <p:txBody>
          <a:bodyPr wrap="square" lIns="0" tIns="0" rIns="0" bIns="0" rtlCol="0" anchor="ctr"/>
          <a:lstStyle/>
          <a:p>
            <a:pPr indent="0" marL="0">
              <a:buNone/>
            </a:pPr>
            <a:r>
              <a:rPr lang="en-US" sz="1150" dirty="0">
                <a:solidFill>
                  <a:srgbClr val="8B98B0"/>
                </a:solidFill>
                <a:latin typeface="Calibri" pitchFamily="34" charset="0"/>
                <a:ea typeface="Calibri" pitchFamily="34" charset="-122"/>
                <a:cs typeface="Calibri" pitchFamily="34" charset="-120"/>
              </a:rPr>
              <a:t>Bug triage &amp; fix proposals in seconds, not hours.</a:t>
            </a:r>
            <a:endParaRPr lang="en-US" sz="1150" dirty="0"/>
          </a:p>
        </p:txBody>
      </p:sp>
      <p:sp>
        <p:nvSpPr>
          <p:cNvPr id="22" name="Shape 16"/>
          <p:cNvSpPr/>
          <p:nvPr/>
        </p:nvSpPr>
        <p:spPr>
          <a:xfrm>
            <a:off x="7360920" y="3931920"/>
            <a:ext cx="4297680" cy="1920240"/>
          </a:xfrm>
          <a:prstGeom prst="roundRect">
            <a:avLst>
              <a:gd name="adj" fmla="val 4762"/>
            </a:avLst>
          </a:prstGeom>
          <a:solidFill>
            <a:srgbClr val="141C2E"/>
          </a:solidFill>
          <a:ln w="12700">
            <a:solidFill>
              <a:srgbClr val="263352"/>
            </a:solidFill>
            <a:prstDash val="solid"/>
          </a:ln>
        </p:spPr>
      </p:sp>
      <p:sp>
        <p:nvSpPr>
          <p:cNvPr id="23" name="Shape 17"/>
          <p:cNvSpPr/>
          <p:nvPr/>
        </p:nvSpPr>
        <p:spPr>
          <a:xfrm>
            <a:off x="7680960" y="4206240"/>
            <a:ext cx="685800" cy="685800"/>
          </a:xfrm>
          <a:prstGeom prst="ellipse">
            <a:avLst/>
          </a:prstGeom>
          <a:solidFill>
            <a:srgbClr val="3D1B22"/>
          </a:solidFill>
          <a:ln/>
        </p:spPr>
      </p:sp>
      <p:pic>
        <p:nvPicPr>
          <p:cNvPr id="24" name="Image 4" descr="preencoded.png">    </p:cNvPr>
          <p:cNvPicPr>
            <a:picLocks noChangeAspect="1"/>
          </p:cNvPicPr>
          <p:nvPr/>
        </p:nvPicPr>
        <p:blipFill>
          <a:blip r:embed="rId5"/>
          <a:stretch>
            <a:fillRect/>
          </a:stretch>
        </p:blipFill>
        <p:spPr>
          <a:xfrm>
            <a:off x="7852410" y="4377690"/>
            <a:ext cx="342900" cy="342900"/>
          </a:xfrm>
          <a:prstGeom prst="rect">
            <a:avLst/>
          </a:prstGeom>
        </p:spPr>
      </p:pic>
      <p:sp>
        <p:nvSpPr>
          <p:cNvPr id="25" name="Text 18"/>
          <p:cNvSpPr/>
          <p:nvPr/>
        </p:nvSpPr>
        <p:spPr>
          <a:xfrm>
            <a:off x="8549640" y="4233672"/>
            <a:ext cx="2834640" cy="274320"/>
          </a:xfrm>
          <a:prstGeom prst="rect">
            <a:avLst/>
          </a:prstGeom>
          <a:noFill/>
          <a:ln/>
        </p:spPr>
        <p:txBody>
          <a:bodyPr wrap="square" lIns="0" tIns="0" rIns="0" bIns="0" rtlCol="0" anchor="ctr"/>
          <a:lstStyle/>
          <a:p>
            <a:pPr indent="0" marL="0">
              <a:buNone/>
            </a:pPr>
            <a:r>
              <a:rPr lang="en-US" sz="1100" b="1" spc="100" kern="0" dirty="0">
                <a:solidFill>
                  <a:srgbClr val="FF5C5C"/>
                </a:solidFill>
                <a:latin typeface="Courier New" pitchFamily="34" charset="0"/>
                <a:ea typeface="Courier New" pitchFamily="34" charset="-122"/>
                <a:cs typeface="Courier New" pitchFamily="34" charset="-120"/>
              </a:rPr>
              <a:t>RISK OF UNCHECKED EXECUTION</a:t>
            </a:r>
            <a:endParaRPr lang="en-US" sz="1100" dirty="0"/>
          </a:p>
        </p:txBody>
      </p:sp>
      <p:sp>
        <p:nvSpPr>
          <p:cNvPr id="26" name="Text 19"/>
          <p:cNvSpPr/>
          <p:nvPr/>
        </p:nvSpPr>
        <p:spPr>
          <a:xfrm>
            <a:off x="8549640" y="4480560"/>
            <a:ext cx="2834640" cy="685800"/>
          </a:xfrm>
          <a:prstGeom prst="rect">
            <a:avLst/>
          </a:prstGeom>
          <a:noFill/>
          <a:ln/>
        </p:spPr>
        <p:txBody>
          <a:bodyPr wrap="square" lIns="0" tIns="0" rIns="0" bIns="0" rtlCol="0" anchor="ctr"/>
          <a:lstStyle/>
          <a:p>
            <a:pPr indent="0" marL="0">
              <a:buNone/>
            </a:pPr>
            <a:r>
              <a:rPr lang="en-US" sz="4000" b="1" dirty="0">
                <a:solidFill>
                  <a:srgbClr val="F5F7FA"/>
                </a:solidFill>
                <a:latin typeface="Cambria" pitchFamily="34" charset="0"/>
                <a:ea typeface="Cambria" pitchFamily="34" charset="-122"/>
                <a:cs typeface="Cambria" pitchFamily="34" charset="-120"/>
              </a:rPr>
              <a:t>SEVERE</a:t>
            </a:r>
            <a:endParaRPr lang="en-US" sz="4000" dirty="0"/>
          </a:p>
        </p:txBody>
      </p:sp>
      <p:sp>
        <p:nvSpPr>
          <p:cNvPr id="27" name="Text 20"/>
          <p:cNvSpPr/>
          <p:nvPr/>
        </p:nvSpPr>
        <p:spPr>
          <a:xfrm>
            <a:off x="7680960" y="5394960"/>
            <a:ext cx="3657600" cy="411480"/>
          </a:xfrm>
          <a:prstGeom prst="rect">
            <a:avLst/>
          </a:prstGeom>
          <a:noFill/>
          <a:ln/>
        </p:spPr>
        <p:txBody>
          <a:bodyPr wrap="square" lIns="0" tIns="0" rIns="0" bIns="0" rtlCol="0" anchor="ctr"/>
          <a:lstStyle/>
          <a:p>
            <a:pPr indent="0" marL="0">
              <a:buNone/>
            </a:pPr>
            <a:r>
              <a:rPr lang="en-US" sz="1150" dirty="0">
                <a:solidFill>
                  <a:srgbClr val="8B98B0"/>
                </a:solidFill>
                <a:latin typeface="Calibri" pitchFamily="34" charset="0"/>
                <a:ea typeface="Calibri" pitchFamily="34" charset="-122"/>
                <a:cs typeface="Calibri" pitchFamily="34" charset="-120"/>
              </a:rPr>
              <a:t>One bad rollback can take down production.</a:t>
            </a:r>
            <a:endParaRPr lang="en-US" sz="1150" dirty="0"/>
          </a:p>
        </p:txBody>
      </p:sp>
      <p:sp>
        <p:nvSpPr>
          <p:cNvPr id="28" name="Text 21"/>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29" name="Text 22"/>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THE AI AUTONOMY PARADOX</a:t>
            </a:r>
            <a:endParaRPr lang="en-US" sz="900" dirty="0"/>
          </a:p>
        </p:txBody>
      </p:sp>
      <p:sp>
        <p:nvSpPr>
          <p:cNvPr id="30" name="Text 23"/>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02 / 07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00F5A0"/>
                </a:solidFill>
                <a:latin typeface="Courier New" pitchFamily="34" charset="0"/>
                <a:ea typeface="Courier New" pitchFamily="34" charset="-122"/>
                <a:cs typeface="Courier New" pitchFamily="34" charset="-120"/>
              </a:rPr>
              <a:t>THE SOLUTION</a:t>
            </a:r>
            <a:endParaRPr lang="en-US" sz="1200" dirty="0"/>
          </a:p>
        </p:txBody>
      </p:sp>
      <p:sp>
        <p:nvSpPr>
          <p:cNvPr id="3" name="Text 1"/>
          <p:cNvSpPr/>
          <p:nvPr/>
        </p:nvSpPr>
        <p:spPr>
          <a:xfrm>
            <a:off x="548640" y="786384"/>
            <a:ext cx="11064240" cy="685800"/>
          </a:xfrm>
          <a:prstGeom prst="rect">
            <a:avLst/>
          </a:prstGeom>
          <a:noFill/>
          <a:ln/>
        </p:spPr>
        <p:txBody>
          <a:bodyPr wrap="square" lIns="0" tIns="0" rIns="0" bIns="0" rtlCol="0" anchor="t"/>
          <a:lstStyle/>
          <a:p>
            <a:pPr algn="l" indent="0" marL="0">
              <a:buNone/>
            </a:pPr>
            <a:r>
              <a:rPr lang="en-US" sz="3000" b="1" dirty="0">
                <a:solidFill>
                  <a:srgbClr val="F5F7FA"/>
                </a:solidFill>
                <a:latin typeface="Cambria" pitchFamily="34" charset="0"/>
                <a:ea typeface="Cambria" pitchFamily="34" charset="-122"/>
                <a:cs typeface="Cambria" pitchFamily="34" charset="-120"/>
              </a:rPr>
              <a:t>Zero-Trust Security Gateway for AI</a:t>
            </a:r>
            <a:endParaRPr lang="en-US" sz="3000" dirty="0"/>
          </a:p>
        </p:txBody>
      </p:sp>
      <p:sp>
        <p:nvSpPr>
          <p:cNvPr id="4" name="Shape 2"/>
          <p:cNvSpPr/>
          <p:nvPr/>
        </p:nvSpPr>
        <p:spPr>
          <a:xfrm>
            <a:off x="548640" y="1965960"/>
            <a:ext cx="2331720" cy="1051560"/>
          </a:xfrm>
          <a:prstGeom prst="roundRect">
            <a:avLst>
              <a:gd name="adj" fmla="val 6957"/>
            </a:avLst>
          </a:prstGeom>
          <a:solidFill>
            <a:srgbClr val="1B2740"/>
          </a:solidFill>
          <a:ln w="12700">
            <a:solidFill>
              <a:srgbClr val="263352"/>
            </a:solidFill>
            <a:prstDash val="solid"/>
          </a:ln>
        </p:spPr>
      </p:sp>
      <p:pic>
        <p:nvPicPr>
          <p:cNvPr id="5" name="Image 0" descr="preencoded.png">    </p:cNvPr>
          <p:cNvPicPr>
            <a:picLocks noChangeAspect="1"/>
          </p:cNvPicPr>
          <p:nvPr/>
        </p:nvPicPr>
        <p:blipFill>
          <a:blip r:embed="rId1"/>
          <a:stretch>
            <a:fillRect/>
          </a:stretch>
        </p:blipFill>
        <p:spPr>
          <a:xfrm>
            <a:off x="749808" y="2263140"/>
            <a:ext cx="457200" cy="457200"/>
          </a:xfrm>
          <a:prstGeom prst="rect">
            <a:avLst/>
          </a:prstGeom>
        </p:spPr>
      </p:pic>
      <p:sp>
        <p:nvSpPr>
          <p:cNvPr id="6" name="Text 3"/>
          <p:cNvSpPr/>
          <p:nvPr/>
        </p:nvSpPr>
        <p:spPr>
          <a:xfrm>
            <a:off x="1325880" y="1965960"/>
            <a:ext cx="1417320" cy="1051560"/>
          </a:xfrm>
          <a:prstGeom prst="rect">
            <a:avLst/>
          </a:prstGeom>
          <a:noFill/>
          <a:ln/>
        </p:spPr>
        <p:txBody>
          <a:bodyPr wrap="square" lIns="0" tIns="0" rIns="0" bIns="0" rtlCol="0" anchor="ctr"/>
          <a:lstStyle/>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AI Rollback</a:t>
            </a:r>
            <a:endParaRPr lang="en-US" sz="1250" dirty="0"/>
          </a:p>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Request</a:t>
            </a:r>
            <a:endParaRPr lang="en-US" sz="1250" dirty="0"/>
          </a:p>
        </p:txBody>
      </p:sp>
      <p:sp>
        <p:nvSpPr>
          <p:cNvPr id="7" name="Shape 4"/>
          <p:cNvSpPr/>
          <p:nvPr/>
        </p:nvSpPr>
        <p:spPr>
          <a:xfrm>
            <a:off x="2935224" y="2491740"/>
            <a:ext cx="393192" cy="0"/>
          </a:xfrm>
          <a:prstGeom prst="line">
            <a:avLst/>
          </a:prstGeom>
          <a:noFill/>
          <a:ln w="25400">
            <a:solidFill>
              <a:srgbClr val="5B6A87"/>
            </a:solidFill>
            <a:prstDash val="solid"/>
            <a:tailEnd type="triangle"/>
          </a:ln>
        </p:spPr>
      </p:sp>
      <p:sp>
        <p:nvSpPr>
          <p:cNvPr id="8" name="Shape 5"/>
          <p:cNvSpPr/>
          <p:nvPr/>
        </p:nvSpPr>
        <p:spPr>
          <a:xfrm>
            <a:off x="3383280" y="1965960"/>
            <a:ext cx="2331720" cy="1051560"/>
          </a:xfrm>
          <a:prstGeom prst="roundRect">
            <a:avLst>
              <a:gd name="adj" fmla="val 6957"/>
            </a:avLst>
          </a:prstGeom>
          <a:solidFill>
            <a:srgbClr val="0A3D2C"/>
          </a:solidFill>
          <a:ln w="19050">
            <a:solidFill>
              <a:srgbClr val="00F5A0"/>
            </a:solidFill>
            <a:prstDash val="solid"/>
          </a:ln>
        </p:spPr>
      </p:sp>
      <p:pic>
        <p:nvPicPr>
          <p:cNvPr id="9" name="Image 1" descr="preencoded.png">    </p:cNvPr>
          <p:cNvPicPr>
            <a:picLocks noChangeAspect="1"/>
          </p:cNvPicPr>
          <p:nvPr/>
        </p:nvPicPr>
        <p:blipFill>
          <a:blip r:embed="rId2"/>
          <a:stretch>
            <a:fillRect/>
          </a:stretch>
        </p:blipFill>
        <p:spPr>
          <a:xfrm>
            <a:off x="3584448" y="2263140"/>
            <a:ext cx="457200" cy="457200"/>
          </a:xfrm>
          <a:prstGeom prst="rect">
            <a:avLst/>
          </a:prstGeom>
        </p:spPr>
      </p:pic>
      <p:sp>
        <p:nvSpPr>
          <p:cNvPr id="10" name="Text 6"/>
          <p:cNvSpPr/>
          <p:nvPr/>
        </p:nvSpPr>
        <p:spPr>
          <a:xfrm>
            <a:off x="4160520" y="1965960"/>
            <a:ext cx="1417320" cy="1051560"/>
          </a:xfrm>
          <a:prstGeom prst="rect">
            <a:avLst/>
          </a:prstGeom>
          <a:noFill/>
          <a:ln/>
        </p:spPr>
        <p:txBody>
          <a:bodyPr wrap="square" lIns="0" tIns="0" rIns="0" bIns="0" rtlCol="0" anchor="ctr"/>
          <a:lstStyle/>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Zero-Trust</a:t>
            </a:r>
            <a:endParaRPr lang="en-US" sz="1250" dirty="0"/>
          </a:p>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Gate</a:t>
            </a:r>
            <a:endParaRPr lang="en-US" sz="1250" dirty="0"/>
          </a:p>
        </p:txBody>
      </p:sp>
      <p:sp>
        <p:nvSpPr>
          <p:cNvPr id="11" name="Shape 7"/>
          <p:cNvSpPr/>
          <p:nvPr/>
        </p:nvSpPr>
        <p:spPr>
          <a:xfrm>
            <a:off x="5769864" y="2491740"/>
            <a:ext cx="393192" cy="0"/>
          </a:xfrm>
          <a:prstGeom prst="line">
            <a:avLst/>
          </a:prstGeom>
          <a:noFill/>
          <a:ln w="25400">
            <a:solidFill>
              <a:srgbClr val="5B6A87"/>
            </a:solidFill>
            <a:prstDash val="solid"/>
            <a:tailEnd type="triangle"/>
          </a:ln>
        </p:spPr>
      </p:sp>
      <p:sp>
        <p:nvSpPr>
          <p:cNvPr id="12" name="Shape 8"/>
          <p:cNvSpPr/>
          <p:nvPr/>
        </p:nvSpPr>
        <p:spPr>
          <a:xfrm>
            <a:off x="6217920" y="1965960"/>
            <a:ext cx="2331720" cy="1051560"/>
          </a:xfrm>
          <a:prstGeom prst="roundRect">
            <a:avLst>
              <a:gd name="adj" fmla="val 6957"/>
            </a:avLst>
          </a:prstGeom>
          <a:solidFill>
            <a:srgbClr val="1B2740"/>
          </a:solidFill>
          <a:ln w="12700">
            <a:solidFill>
              <a:srgbClr val="263352"/>
            </a:solidFill>
            <a:prstDash val="solid"/>
          </a:ln>
        </p:spPr>
      </p:sp>
      <p:pic>
        <p:nvPicPr>
          <p:cNvPr id="13" name="Image 2" descr="preencoded.png">    </p:cNvPr>
          <p:cNvPicPr>
            <a:picLocks noChangeAspect="1"/>
          </p:cNvPicPr>
          <p:nvPr/>
        </p:nvPicPr>
        <p:blipFill>
          <a:blip r:embed="rId3"/>
          <a:stretch>
            <a:fillRect/>
          </a:stretch>
        </p:blipFill>
        <p:spPr>
          <a:xfrm>
            <a:off x="6419088" y="2263140"/>
            <a:ext cx="457200" cy="457200"/>
          </a:xfrm>
          <a:prstGeom prst="rect">
            <a:avLst/>
          </a:prstGeom>
        </p:spPr>
      </p:pic>
      <p:sp>
        <p:nvSpPr>
          <p:cNvPr id="14" name="Text 9"/>
          <p:cNvSpPr/>
          <p:nvPr/>
        </p:nvSpPr>
        <p:spPr>
          <a:xfrm>
            <a:off x="6995160" y="1965960"/>
            <a:ext cx="1417320" cy="1051560"/>
          </a:xfrm>
          <a:prstGeom prst="rect">
            <a:avLst/>
          </a:prstGeom>
          <a:noFill/>
          <a:ln/>
        </p:spPr>
        <p:txBody>
          <a:bodyPr wrap="square" lIns="0" tIns="0" rIns="0" bIns="0" rtlCol="0" anchor="ctr"/>
          <a:lstStyle/>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Human</a:t>
            </a:r>
            <a:endParaRPr lang="en-US" sz="1250" dirty="0"/>
          </a:p>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Sign-Off</a:t>
            </a:r>
            <a:endParaRPr lang="en-US" sz="1250" dirty="0"/>
          </a:p>
        </p:txBody>
      </p:sp>
      <p:sp>
        <p:nvSpPr>
          <p:cNvPr id="15" name="Shape 10"/>
          <p:cNvSpPr/>
          <p:nvPr/>
        </p:nvSpPr>
        <p:spPr>
          <a:xfrm>
            <a:off x="8604504" y="2491740"/>
            <a:ext cx="393192" cy="0"/>
          </a:xfrm>
          <a:prstGeom prst="line">
            <a:avLst/>
          </a:prstGeom>
          <a:noFill/>
          <a:ln w="25400">
            <a:solidFill>
              <a:srgbClr val="5B6A87"/>
            </a:solidFill>
            <a:prstDash val="solid"/>
            <a:tailEnd type="triangle"/>
          </a:ln>
        </p:spPr>
      </p:sp>
      <p:sp>
        <p:nvSpPr>
          <p:cNvPr id="16" name="Shape 11"/>
          <p:cNvSpPr/>
          <p:nvPr/>
        </p:nvSpPr>
        <p:spPr>
          <a:xfrm>
            <a:off x="9052560" y="1965960"/>
            <a:ext cx="2331720" cy="1051560"/>
          </a:xfrm>
          <a:prstGeom prst="roundRect">
            <a:avLst>
              <a:gd name="adj" fmla="val 6957"/>
            </a:avLst>
          </a:prstGeom>
          <a:solidFill>
            <a:srgbClr val="1B2740"/>
          </a:solidFill>
          <a:ln w="12700">
            <a:solidFill>
              <a:srgbClr val="263352"/>
            </a:solidFill>
            <a:prstDash val="solid"/>
          </a:ln>
        </p:spPr>
      </p:sp>
      <p:pic>
        <p:nvPicPr>
          <p:cNvPr id="17" name="Image 3" descr="preencoded.png">    </p:cNvPr>
          <p:cNvPicPr>
            <a:picLocks noChangeAspect="1"/>
          </p:cNvPicPr>
          <p:nvPr/>
        </p:nvPicPr>
        <p:blipFill>
          <a:blip r:embed="rId4"/>
          <a:stretch>
            <a:fillRect/>
          </a:stretch>
        </p:blipFill>
        <p:spPr>
          <a:xfrm>
            <a:off x="9253728" y="2263140"/>
            <a:ext cx="457200" cy="457200"/>
          </a:xfrm>
          <a:prstGeom prst="rect">
            <a:avLst/>
          </a:prstGeom>
        </p:spPr>
      </p:pic>
      <p:sp>
        <p:nvSpPr>
          <p:cNvPr id="18" name="Text 12"/>
          <p:cNvSpPr/>
          <p:nvPr/>
        </p:nvSpPr>
        <p:spPr>
          <a:xfrm>
            <a:off x="9829800" y="1965960"/>
            <a:ext cx="1417320" cy="1051560"/>
          </a:xfrm>
          <a:prstGeom prst="rect">
            <a:avLst/>
          </a:prstGeom>
          <a:noFill/>
          <a:ln/>
        </p:spPr>
        <p:txBody>
          <a:bodyPr wrap="square" lIns="0" tIns="0" rIns="0" bIns="0" rtlCol="0" anchor="ctr"/>
          <a:lstStyle/>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Production</a:t>
            </a:r>
            <a:endParaRPr lang="en-US" sz="1250" dirty="0"/>
          </a:p>
          <a:p>
            <a:pPr indent="0" marL="0">
              <a:lnSpc>
                <a:spcPct val="105000"/>
              </a:lnSpc>
              <a:buNone/>
            </a:pPr>
            <a:r>
              <a:rPr lang="en-US" sz="1250" b="1" dirty="0">
                <a:solidFill>
                  <a:srgbClr val="F5F7FA"/>
                </a:solidFill>
                <a:latin typeface="Calibri" pitchFamily="34" charset="0"/>
                <a:ea typeface="Calibri" pitchFamily="34" charset="-122"/>
                <a:cs typeface="Calibri" pitchFamily="34" charset="-120"/>
              </a:rPr>
              <a:t>Execution</a:t>
            </a:r>
            <a:endParaRPr lang="en-US" sz="1250" dirty="0"/>
          </a:p>
        </p:txBody>
      </p:sp>
      <p:sp>
        <p:nvSpPr>
          <p:cNvPr id="19" name="Text 13"/>
          <p:cNvSpPr/>
          <p:nvPr/>
        </p:nvSpPr>
        <p:spPr>
          <a:xfrm>
            <a:off x="548640" y="3182112"/>
            <a:ext cx="10972800" cy="320040"/>
          </a:xfrm>
          <a:prstGeom prst="rect">
            <a:avLst/>
          </a:prstGeom>
          <a:noFill/>
          <a:ln/>
        </p:spPr>
        <p:txBody>
          <a:bodyPr wrap="square" lIns="0" tIns="0" rIns="0" bIns="0" rtlCol="0" anchor="ctr"/>
          <a:lstStyle/>
          <a:p>
            <a:pPr indent="0" marL="0">
              <a:buNone/>
            </a:pPr>
            <a:r>
              <a:rPr lang="en-US" sz="1200" i="1" dirty="0">
                <a:solidFill>
                  <a:srgbClr val="5B6A87"/>
                </a:solidFill>
                <a:latin typeface="Calibri" pitchFamily="34" charset="0"/>
                <a:ea typeface="Calibri" pitchFamily="34" charset="-122"/>
                <a:cs typeface="Calibri" pitchFamily="34" charset="-120"/>
              </a:rPr>
              <a:t>Direct execution without sign-off is impossible by design.</a:t>
            </a:r>
            <a:endParaRPr lang="en-US" sz="1200" dirty="0"/>
          </a:p>
        </p:txBody>
      </p:sp>
      <p:sp>
        <p:nvSpPr>
          <p:cNvPr id="20" name="Shape 14"/>
          <p:cNvSpPr/>
          <p:nvPr/>
        </p:nvSpPr>
        <p:spPr>
          <a:xfrm>
            <a:off x="548640" y="3611880"/>
            <a:ext cx="3520440" cy="2286000"/>
          </a:xfrm>
          <a:prstGeom prst="roundRect">
            <a:avLst>
              <a:gd name="adj" fmla="val 4000"/>
            </a:avLst>
          </a:prstGeom>
          <a:solidFill>
            <a:srgbClr val="141C2E"/>
          </a:solidFill>
          <a:ln w="12700">
            <a:solidFill>
              <a:srgbClr val="263352"/>
            </a:solidFill>
            <a:prstDash val="solid"/>
          </a:ln>
        </p:spPr>
      </p:sp>
      <p:sp>
        <p:nvSpPr>
          <p:cNvPr id="21" name="Shape 15"/>
          <p:cNvSpPr/>
          <p:nvPr/>
        </p:nvSpPr>
        <p:spPr>
          <a:xfrm>
            <a:off x="822960" y="3886200"/>
            <a:ext cx="594360" cy="594360"/>
          </a:xfrm>
          <a:prstGeom prst="ellipse">
            <a:avLst/>
          </a:prstGeom>
          <a:solidFill>
            <a:srgbClr val="0A3D2C"/>
          </a:solidFill>
          <a:ln/>
        </p:spPr>
      </p:sp>
      <p:pic>
        <p:nvPicPr>
          <p:cNvPr id="22" name="Image 4" descr="preencoded.png">    </p:cNvPr>
          <p:cNvPicPr>
            <a:picLocks noChangeAspect="1"/>
          </p:cNvPicPr>
          <p:nvPr/>
        </p:nvPicPr>
        <p:blipFill>
          <a:blip r:embed="rId5"/>
          <a:stretch>
            <a:fillRect/>
          </a:stretch>
        </p:blipFill>
        <p:spPr>
          <a:xfrm>
            <a:off x="971550" y="4034790"/>
            <a:ext cx="297180" cy="297180"/>
          </a:xfrm>
          <a:prstGeom prst="rect">
            <a:avLst/>
          </a:prstGeom>
        </p:spPr>
      </p:pic>
      <p:sp>
        <p:nvSpPr>
          <p:cNvPr id="23" name="Text 16"/>
          <p:cNvSpPr/>
          <p:nvPr/>
        </p:nvSpPr>
        <p:spPr>
          <a:xfrm>
            <a:off x="822960" y="4617720"/>
            <a:ext cx="2971800" cy="365760"/>
          </a:xfrm>
          <a:prstGeom prst="rect">
            <a:avLst/>
          </a:prstGeom>
          <a:noFill/>
          <a:ln/>
        </p:spPr>
        <p:txBody>
          <a:bodyPr wrap="square" lIns="0" tIns="0" rIns="0" bIns="0" rtlCol="0" anchor="ctr"/>
          <a:lstStyle/>
          <a:p>
            <a:pPr indent="0" marL="0">
              <a:buNone/>
            </a:pPr>
            <a:r>
              <a:rPr lang="en-US" sz="1550" b="1" dirty="0">
                <a:solidFill>
                  <a:srgbClr val="F5F7FA"/>
                </a:solidFill>
                <a:latin typeface="Cambria" pitchFamily="34" charset="0"/>
                <a:ea typeface="Cambria" pitchFamily="34" charset="-122"/>
                <a:cs typeface="Cambria" pitchFamily="34" charset="-120"/>
              </a:rPr>
              <a:t>Least Privilege</a:t>
            </a:r>
            <a:endParaRPr lang="en-US" sz="1550" dirty="0"/>
          </a:p>
        </p:txBody>
      </p:sp>
      <p:sp>
        <p:nvSpPr>
          <p:cNvPr id="24" name="Text 17"/>
          <p:cNvSpPr/>
          <p:nvPr/>
        </p:nvSpPr>
        <p:spPr>
          <a:xfrm>
            <a:off x="822960" y="5001768"/>
            <a:ext cx="2971800" cy="777240"/>
          </a:xfrm>
          <a:prstGeom prst="rect">
            <a:avLst/>
          </a:prstGeom>
          <a:noFill/>
          <a:ln/>
        </p:spPr>
        <p:txBody>
          <a:bodyPr wrap="square" lIns="0" tIns="0" rIns="0" bIns="0" rtlCol="0" anchor="ctr"/>
          <a:lstStyle/>
          <a:p>
            <a:pPr indent="0" marL="0">
              <a:lnSpc>
                <a:spcPct val="115000"/>
              </a:lnSpc>
              <a:buNone/>
            </a:pPr>
            <a:r>
              <a:rPr lang="en-US" sz="1150" dirty="0">
                <a:solidFill>
                  <a:srgbClr val="8B98B0"/>
                </a:solidFill>
                <a:latin typeface="Calibri" pitchFamily="34" charset="0"/>
                <a:ea typeface="Calibri" pitchFamily="34" charset="-122"/>
                <a:cs typeface="Calibri" pitchFamily="34" charset="-120"/>
              </a:rPr>
              <a:t>AI can query status and analyze commits — but cannot make destructive changes without cryptographic sign-off.</a:t>
            </a:r>
            <a:endParaRPr lang="en-US" sz="1150" dirty="0"/>
          </a:p>
        </p:txBody>
      </p:sp>
      <p:sp>
        <p:nvSpPr>
          <p:cNvPr id="25" name="Shape 18"/>
          <p:cNvSpPr/>
          <p:nvPr/>
        </p:nvSpPr>
        <p:spPr>
          <a:xfrm>
            <a:off x="4389120" y="3611880"/>
            <a:ext cx="3520440" cy="2286000"/>
          </a:xfrm>
          <a:prstGeom prst="roundRect">
            <a:avLst>
              <a:gd name="adj" fmla="val 4000"/>
            </a:avLst>
          </a:prstGeom>
          <a:solidFill>
            <a:srgbClr val="141C2E"/>
          </a:solidFill>
          <a:ln w="12700">
            <a:solidFill>
              <a:srgbClr val="263352"/>
            </a:solidFill>
            <a:prstDash val="solid"/>
          </a:ln>
        </p:spPr>
      </p:sp>
      <p:sp>
        <p:nvSpPr>
          <p:cNvPr id="26" name="Shape 19"/>
          <p:cNvSpPr/>
          <p:nvPr/>
        </p:nvSpPr>
        <p:spPr>
          <a:xfrm>
            <a:off x="4663440" y="3886200"/>
            <a:ext cx="594360" cy="594360"/>
          </a:xfrm>
          <a:prstGeom prst="ellipse">
            <a:avLst/>
          </a:prstGeom>
          <a:solidFill>
            <a:srgbClr val="0A3D2C"/>
          </a:solidFill>
          <a:ln/>
        </p:spPr>
      </p:sp>
      <p:pic>
        <p:nvPicPr>
          <p:cNvPr id="27" name="Image 5" descr="preencoded.png">    </p:cNvPr>
          <p:cNvPicPr>
            <a:picLocks noChangeAspect="1"/>
          </p:cNvPicPr>
          <p:nvPr/>
        </p:nvPicPr>
        <p:blipFill>
          <a:blip r:embed="rId6"/>
          <a:stretch>
            <a:fillRect/>
          </a:stretch>
        </p:blipFill>
        <p:spPr>
          <a:xfrm>
            <a:off x="4812030" y="4034790"/>
            <a:ext cx="297180" cy="297180"/>
          </a:xfrm>
          <a:prstGeom prst="rect">
            <a:avLst/>
          </a:prstGeom>
        </p:spPr>
      </p:pic>
      <p:sp>
        <p:nvSpPr>
          <p:cNvPr id="28" name="Text 20"/>
          <p:cNvSpPr/>
          <p:nvPr/>
        </p:nvSpPr>
        <p:spPr>
          <a:xfrm>
            <a:off x="4663440" y="4617720"/>
            <a:ext cx="2971800" cy="365760"/>
          </a:xfrm>
          <a:prstGeom prst="rect">
            <a:avLst/>
          </a:prstGeom>
          <a:noFill/>
          <a:ln/>
        </p:spPr>
        <p:txBody>
          <a:bodyPr wrap="square" lIns="0" tIns="0" rIns="0" bIns="0" rtlCol="0" anchor="ctr"/>
          <a:lstStyle/>
          <a:p>
            <a:pPr indent="0" marL="0">
              <a:buNone/>
            </a:pPr>
            <a:r>
              <a:rPr lang="en-US" sz="1550" b="1" dirty="0">
                <a:solidFill>
                  <a:srgbClr val="F5F7FA"/>
                </a:solidFill>
                <a:latin typeface="Cambria" pitchFamily="34" charset="0"/>
                <a:ea typeface="Cambria" pitchFamily="34" charset="-122"/>
                <a:cs typeface="Cambria" pitchFamily="34" charset="-120"/>
              </a:rPr>
              <a:t>Human-in-the-Loop</a:t>
            </a:r>
            <a:endParaRPr lang="en-US" sz="1550" dirty="0"/>
          </a:p>
        </p:txBody>
      </p:sp>
      <p:sp>
        <p:nvSpPr>
          <p:cNvPr id="29" name="Text 21"/>
          <p:cNvSpPr/>
          <p:nvPr/>
        </p:nvSpPr>
        <p:spPr>
          <a:xfrm>
            <a:off x="4663440" y="5001768"/>
            <a:ext cx="2971800" cy="777240"/>
          </a:xfrm>
          <a:prstGeom prst="rect">
            <a:avLst/>
          </a:prstGeom>
          <a:noFill/>
          <a:ln/>
        </p:spPr>
        <p:txBody>
          <a:bodyPr wrap="square" lIns="0" tIns="0" rIns="0" bIns="0" rtlCol="0" anchor="ctr"/>
          <a:lstStyle/>
          <a:p>
            <a:pPr indent="0" marL="0">
              <a:lnSpc>
                <a:spcPct val="115000"/>
              </a:lnSpc>
              <a:buNone/>
            </a:pPr>
            <a:r>
              <a:rPr lang="en-US" sz="1150" dirty="0">
                <a:solidFill>
                  <a:srgbClr val="8B98B0"/>
                </a:solidFill>
                <a:latin typeface="Calibri" pitchFamily="34" charset="0"/>
                <a:ea typeface="Calibri" pitchFamily="34" charset="-122"/>
                <a:cs typeface="Calibri" pitchFamily="34" charset="-120"/>
              </a:rPr>
              <a:t>High-risk calls like execute_rollback are intercepted and placed in a PENDING_APPROVAL queue.</a:t>
            </a:r>
            <a:endParaRPr lang="en-US" sz="1150" dirty="0"/>
          </a:p>
        </p:txBody>
      </p:sp>
      <p:sp>
        <p:nvSpPr>
          <p:cNvPr id="30" name="Shape 22"/>
          <p:cNvSpPr/>
          <p:nvPr/>
        </p:nvSpPr>
        <p:spPr>
          <a:xfrm>
            <a:off x="8229600" y="3611880"/>
            <a:ext cx="3520440" cy="2286000"/>
          </a:xfrm>
          <a:prstGeom prst="roundRect">
            <a:avLst>
              <a:gd name="adj" fmla="val 4000"/>
            </a:avLst>
          </a:prstGeom>
          <a:solidFill>
            <a:srgbClr val="141C2E"/>
          </a:solidFill>
          <a:ln w="12700">
            <a:solidFill>
              <a:srgbClr val="263352"/>
            </a:solidFill>
            <a:prstDash val="solid"/>
          </a:ln>
        </p:spPr>
      </p:sp>
      <p:sp>
        <p:nvSpPr>
          <p:cNvPr id="31" name="Shape 23"/>
          <p:cNvSpPr/>
          <p:nvPr/>
        </p:nvSpPr>
        <p:spPr>
          <a:xfrm>
            <a:off x="8503920" y="3886200"/>
            <a:ext cx="594360" cy="594360"/>
          </a:xfrm>
          <a:prstGeom prst="ellipse">
            <a:avLst/>
          </a:prstGeom>
          <a:solidFill>
            <a:srgbClr val="0A3D2C"/>
          </a:solidFill>
          <a:ln/>
        </p:spPr>
      </p:sp>
      <p:pic>
        <p:nvPicPr>
          <p:cNvPr id="32" name="Image 6" descr="preencoded.png">    </p:cNvPr>
          <p:cNvPicPr>
            <a:picLocks noChangeAspect="1"/>
          </p:cNvPicPr>
          <p:nvPr/>
        </p:nvPicPr>
        <p:blipFill>
          <a:blip r:embed="rId7"/>
          <a:stretch>
            <a:fillRect/>
          </a:stretch>
        </p:blipFill>
        <p:spPr>
          <a:xfrm>
            <a:off x="8652510" y="4034790"/>
            <a:ext cx="297180" cy="297180"/>
          </a:xfrm>
          <a:prstGeom prst="rect">
            <a:avLst/>
          </a:prstGeom>
        </p:spPr>
      </p:pic>
      <p:sp>
        <p:nvSpPr>
          <p:cNvPr id="33" name="Text 24"/>
          <p:cNvSpPr/>
          <p:nvPr/>
        </p:nvSpPr>
        <p:spPr>
          <a:xfrm>
            <a:off x="8503920" y="4617720"/>
            <a:ext cx="2971800" cy="365760"/>
          </a:xfrm>
          <a:prstGeom prst="rect">
            <a:avLst/>
          </a:prstGeom>
          <a:noFill/>
          <a:ln/>
        </p:spPr>
        <p:txBody>
          <a:bodyPr wrap="square" lIns="0" tIns="0" rIns="0" bIns="0" rtlCol="0" anchor="ctr"/>
          <a:lstStyle/>
          <a:p>
            <a:pPr indent="0" marL="0">
              <a:buNone/>
            </a:pPr>
            <a:r>
              <a:rPr lang="en-US" sz="1550" b="1" dirty="0">
                <a:solidFill>
                  <a:srgbClr val="F5F7FA"/>
                </a:solidFill>
                <a:latin typeface="Cambria" pitchFamily="34" charset="0"/>
                <a:ea typeface="Cambria" pitchFamily="34" charset="-122"/>
                <a:cs typeface="Cambria" pitchFamily="34" charset="-120"/>
              </a:rPr>
              <a:t>JWT-Signed Validation</a:t>
            </a:r>
            <a:endParaRPr lang="en-US" sz="1550" dirty="0"/>
          </a:p>
        </p:txBody>
      </p:sp>
      <p:sp>
        <p:nvSpPr>
          <p:cNvPr id="34" name="Text 25"/>
          <p:cNvSpPr/>
          <p:nvPr/>
        </p:nvSpPr>
        <p:spPr>
          <a:xfrm>
            <a:off x="8503920" y="5001768"/>
            <a:ext cx="2971800" cy="777240"/>
          </a:xfrm>
          <a:prstGeom prst="rect">
            <a:avLst/>
          </a:prstGeom>
          <a:noFill/>
          <a:ln/>
        </p:spPr>
        <p:txBody>
          <a:bodyPr wrap="square" lIns="0" tIns="0" rIns="0" bIns="0" rtlCol="0" anchor="ctr"/>
          <a:lstStyle/>
          <a:p>
            <a:pPr indent="0" marL="0">
              <a:lnSpc>
                <a:spcPct val="115000"/>
              </a:lnSpc>
              <a:buNone/>
            </a:pPr>
            <a:r>
              <a:rPr lang="en-US" sz="1150" dirty="0">
                <a:solidFill>
                  <a:srgbClr val="8B98B0"/>
                </a:solidFill>
                <a:latin typeface="Calibri" pitchFamily="34" charset="0"/>
                <a:ea typeface="Calibri" pitchFamily="34" charset="-122"/>
                <a:cs typeface="Calibri" pitchFamily="34" charset="-120"/>
              </a:rPr>
              <a:t>Authorizations are cryptographically bound to a specific transaction ID and time-limited.</a:t>
            </a:r>
            <a:endParaRPr lang="en-US" sz="1150" dirty="0"/>
          </a:p>
        </p:txBody>
      </p:sp>
      <p:sp>
        <p:nvSpPr>
          <p:cNvPr id="35" name="Text 26"/>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36" name="Text 27"/>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PRINCIPLE OF LEAST PRIVILEGE</a:t>
            </a:r>
            <a:endParaRPr lang="en-US" sz="900" dirty="0"/>
          </a:p>
        </p:txBody>
      </p:sp>
      <p:sp>
        <p:nvSpPr>
          <p:cNvPr id="37" name="Text 28"/>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03 / 07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00F5A0"/>
                </a:solidFill>
                <a:latin typeface="Courier New" pitchFamily="34" charset="0"/>
                <a:ea typeface="Courier New" pitchFamily="34" charset="-122"/>
                <a:cs typeface="Courier New" pitchFamily="34" charset="-120"/>
              </a:rPr>
              <a:t>CORE ARCHITECTURE</a:t>
            </a:r>
            <a:endParaRPr lang="en-US" sz="1200" dirty="0"/>
          </a:p>
        </p:txBody>
      </p:sp>
      <p:sp>
        <p:nvSpPr>
          <p:cNvPr id="3" name="Text 1"/>
          <p:cNvSpPr/>
          <p:nvPr/>
        </p:nvSpPr>
        <p:spPr>
          <a:xfrm>
            <a:off x="548640" y="786384"/>
            <a:ext cx="11064240" cy="685800"/>
          </a:xfrm>
          <a:prstGeom prst="rect">
            <a:avLst/>
          </a:prstGeom>
          <a:noFill/>
          <a:ln/>
        </p:spPr>
        <p:txBody>
          <a:bodyPr wrap="square" lIns="0" tIns="0" rIns="0" bIns="0" rtlCol="0" anchor="t"/>
          <a:lstStyle/>
          <a:p>
            <a:pPr algn="l" indent="0" marL="0">
              <a:buNone/>
            </a:pPr>
            <a:r>
              <a:rPr lang="en-US" sz="3000" b="1" dirty="0">
                <a:solidFill>
                  <a:srgbClr val="F5F7FA"/>
                </a:solidFill>
                <a:latin typeface="Cambria" pitchFamily="34" charset="0"/>
                <a:ea typeface="Cambria" pitchFamily="34" charset="-122"/>
                <a:cs typeface="Cambria" pitchFamily="34" charset="-120"/>
              </a:rPr>
              <a:t>Cryptographic Remediation Pipeline</a:t>
            </a:r>
            <a:endParaRPr lang="en-US" sz="3000" dirty="0"/>
          </a:p>
        </p:txBody>
      </p:sp>
      <p:sp>
        <p:nvSpPr>
          <p:cNvPr id="4" name="Shape 2"/>
          <p:cNvSpPr/>
          <p:nvPr/>
        </p:nvSpPr>
        <p:spPr>
          <a:xfrm>
            <a:off x="548640" y="1874520"/>
            <a:ext cx="11091672" cy="3200400"/>
          </a:xfrm>
          <a:prstGeom prst="roundRect">
            <a:avLst>
              <a:gd name="adj" fmla="val 2857"/>
            </a:avLst>
          </a:prstGeom>
          <a:solidFill>
            <a:srgbClr val="141C2E"/>
          </a:solidFill>
          <a:ln w="12700">
            <a:solidFill>
              <a:srgbClr val="263352"/>
            </a:solidFill>
            <a:prstDash val="solid"/>
          </a:ln>
        </p:spPr>
      </p:sp>
      <p:sp>
        <p:nvSpPr>
          <p:cNvPr id="5" name="Shape 3"/>
          <p:cNvSpPr/>
          <p:nvPr/>
        </p:nvSpPr>
        <p:spPr>
          <a:xfrm>
            <a:off x="960120" y="2286000"/>
            <a:ext cx="1965960" cy="868680"/>
          </a:xfrm>
          <a:prstGeom prst="roundRect">
            <a:avLst>
              <a:gd name="adj" fmla="val 8421"/>
            </a:avLst>
          </a:prstGeom>
          <a:solidFill>
            <a:srgbClr val="1B2740"/>
          </a:solidFill>
          <a:ln w="12700">
            <a:solidFill>
              <a:srgbClr val="263352"/>
            </a:solidFill>
            <a:prstDash val="solid"/>
          </a:ln>
        </p:spPr>
      </p:sp>
      <p:pic>
        <p:nvPicPr>
          <p:cNvPr id="6" name="Image 0" descr="preencoded.png">    </p:cNvPr>
          <p:cNvPicPr>
            <a:picLocks noChangeAspect="1"/>
          </p:cNvPicPr>
          <p:nvPr/>
        </p:nvPicPr>
        <p:blipFill>
          <a:blip r:embed="rId1"/>
          <a:stretch>
            <a:fillRect/>
          </a:stretch>
        </p:blipFill>
        <p:spPr>
          <a:xfrm>
            <a:off x="1124712" y="2528316"/>
            <a:ext cx="384048" cy="384048"/>
          </a:xfrm>
          <a:prstGeom prst="rect">
            <a:avLst/>
          </a:prstGeom>
        </p:spPr>
      </p:pic>
      <p:sp>
        <p:nvSpPr>
          <p:cNvPr id="7" name="Text 4"/>
          <p:cNvSpPr/>
          <p:nvPr/>
        </p:nvSpPr>
        <p:spPr>
          <a:xfrm>
            <a:off x="1581912" y="2286000"/>
            <a:ext cx="1216152" cy="868680"/>
          </a:xfrm>
          <a:prstGeom prst="rect">
            <a:avLst/>
          </a:prstGeom>
          <a:noFill/>
          <a:ln/>
        </p:spPr>
        <p:txBody>
          <a:bodyPr wrap="square" lIns="0" tIns="0" rIns="0" bIns="0" rtlCol="0" anchor="ctr"/>
          <a:lstStyle/>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AI Agent / LLM</a:t>
            </a:r>
            <a:endParaRPr lang="en-US" sz="1150" dirty="0"/>
          </a:p>
        </p:txBody>
      </p:sp>
      <p:sp>
        <p:nvSpPr>
          <p:cNvPr id="8" name="Shape 5"/>
          <p:cNvSpPr/>
          <p:nvPr/>
        </p:nvSpPr>
        <p:spPr>
          <a:xfrm>
            <a:off x="3611880" y="2286000"/>
            <a:ext cx="1965960" cy="868680"/>
          </a:xfrm>
          <a:prstGeom prst="roundRect">
            <a:avLst>
              <a:gd name="adj" fmla="val 8421"/>
            </a:avLst>
          </a:prstGeom>
          <a:solidFill>
            <a:srgbClr val="0A3D2C"/>
          </a:solidFill>
          <a:ln w="19050">
            <a:solidFill>
              <a:srgbClr val="00F5A0"/>
            </a:solidFill>
            <a:prstDash val="solid"/>
          </a:ln>
        </p:spPr>
      </p:sp>
      <p:pic>
        <p:nvPicPr>
          <p:cNvPr id="9" name="Image 1" descr="preencoded.png">    </p:cNvPr>
          <p:cNvPicPr>
            <a:picLocks noChangeAspect="1"/>
          </p:cNvPicPr>
          <p:nvPr/>
        </p:nvPicPr>
        <p:blipFill>
          <a:blip r:embed="rId2"/>
          <a:stretch>
            <a:fillRect/>
          </a:stretch>
        </p:blipFill>
        <p:spPr>
          <a:xfrm>
            <a:off x="3776472" y="2528316"/>
            <a:ext cx="384048" cy="384048"/>
          </a:xfrm>
          <a:prstGeom prst="rect">
            <a:avLst/>
          </a:prstGeom>
        </p:spPr>
      </p:pic>
      <p:sp>
        <p:nvSpPr>
          <p:cNvPr id="10" name="Text 6"/>
          <p:cNvSpPr/>
          <p:nvPr/>
        </p:nvSpPr>
        <p:spPr>
          <a:xfrm>
            <a:off x="4233672" y="2286000"/>
            <a:ext cx="1216152" cy="868680"/>
          </a:xfrm>
          <a:prstGeom prst="rect">
            <a:avLst/>
          </a:prstGeom>
          <a:noFill/>
          <a:ln/>
        </p:spPr>
        <p:txBody>
          <a:bodyPr wrap="square" lIns="0" tIns="0" rIns="0" bIns="0" rtlCol="0" anchor="ctr"/>
          <a:lstStyle/>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Zero-Trust</a:t>
            </a:r>
            <a:endParaRPr lang="en-US" sz="1150" dirty="0"/>
          </a:p>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Gateway</a:t>
            </a:r>
            <a:endParaRPr lang="en-US" sz="1150" dirty="0"/>
          </a:p>
        </p:txBody>
      </p:sp>
      <p:sp>
        <p:nvSpPr>
          <p:cNvPr id="11" name="Shape 7"/>
          <p:cNvSpPr/>
          <p:nvPr/>
        </p:nvSpPr>
        <p:spPr>
          <a:xfrm>
            <a:off x="6263640" y="2286000"/>
            <a:ext cx="1965960" cy="868680"/>
          </a:xfrm>
          <a:prstGeom prst="roundRect">
            <a:avLst>
              <a:gd name="adj" fmla="val 8421"/>
            </a:avLst>
          </a:prstGeom>
          <a:solidFill>
            <a:srgbClr val="1B2740"/>
          </a:solidFill>
          <a:ln w="12700">
            <a:solidFill>
              <a:srgbClr val="263352"/>
            </a:solidFill>
            <a:prstDash val="solid"/>
          </a:ln>
        </p:spPr>
      </p:sp>
      <p:pic>
        <p:nvPicPr>
          <p:cNvPr id="12" name="Image 2" descr="preencoded.png">    </p:cNvPr>
          <p:cNvPicPr>
            <a:picLocks noChangeAspect="1"/>
          </p:cNvPicPr>
          <p:nvPr/>
        </p:nvPicPr>
        <p:blipFill>
          <a:blip r:embed="rId3"/>
          <a:stretch>
            <a:fillRect/>
          </a:stretch>
        </p:blipFill>
        <p:spPr>
          <a:xfrm>
            <a:off x="6428232" y="2528316"/>
            <a:ext cx="384048" cy="384048"/>
          </a:xfrm>
          <a:prstGeom prst="rect">
            <a:avLst/>
          </a:prstGeom>
        </p:spPr>
      </p:pic>
      <p:sp>
        <p:nvSpPr>
          <p:cNvPr id="13" name="Text 8"/>
          <p:cNvSpPr/>
          <p:nvPr/>
        </p:nvSpPr>
        <p:spPr>
          <a:xfrm>
            <a:off x="6885432" y="2286000"/>
            <a:ext cx="1216152" cy="868680"/>
          </a:xfrm>
          <a:prstGeom prst="rect">
            <a:avLst/>
          </a:prstGeom>
          <a:noFill/>
          <a:ln/>
        </p:spPr>
        <p:txBody>
          <a:bodyPr wrap="square" lIns="0" tIns="0" rIns="0" bIns="0" rtlCol="0" anchor="ctr"/>
          <a:lstStyle/>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Pending</a:t>
            </a:r>
            <a:endParaRPr lang="en-US" sz="1150" dirty="0"/>
          </a:p>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Queue</a:t>
            </a:r>
            <a:endParaRPr lang="en-US" sz="1150" dirty="0"/>
          </a:p>
        </p:txBody>
      </p:sp>
      <p:sp>
        <p:nvSpPr>
          <p:cNvPr id="14" name="Shape 9"/>
          <p:cNvSpPr/>
          <p:nvPr/>
        </p:nvSpPr>
        <p:spPr>
          <a:xfrm>
            <a:off x="2971800" y="2720340"/>
            <a:ext cx="594360" cy="0"/>
          </a:xfrm>
          <a:prstGeom prst="line">
            <a:avLst/>
          </a:prstGeom>
          <a:noFill/>
          <a:ln w="25400">
            <a:solidFill>
              <a:srgbClr val="5B6A87"/>
            </a:solidFill>
            <a:prstDash val="solid"/>
            <a:tailEnd type="triangle"/>
          </a:ln>
        </p:spPr>
      </p:sp>
      <p:sp>
        <p:nvSpPr>
          <p:cNvPr id="15" name="Shape 10"/>
          <p:cNvSpPr/>
          <p:nvPr/>
        </p:nvSpPr>
        <p:spPr>
          <a:xfrm>
            <a:off x="5623560" y="2720340"/>
            <a:ext cx="594360" cy="0"/>
          </a:xfrm>
          <a:prstGeom prst="line">
            <a:avLst/>
          </a:prstGeom>
          <a:noFill/>
          <a:ln w="25400">
            <a:solidFill>
              <a:srgbClr val="5B6A87"/>
            </a:solidFill>
            <a:prstDash val="solid"/>
            <a:tailEnd type="triangle"/>
          </a:ln>
        </p:spPr>
      </p:sp>
      <p:sp>
        <p:nvSpPr>
          <p:cNvPr id="16" name="Text 11"/>
          <p:cNvSpPr/>
          <p:nvPr/>
        </p:nvSpPr>
        <p:spPr>
          <a:xfrm>
            <a:off x="2971800" y="2029968"/>
            <a:ext cx="1828800" cy="228600"/>
          </a:xfrm>
          <a:prstGeom prst="rect">
            <a:avLst/>
          </a:prstGeom>
          <a:noFill/>
          <a:ln/>
        </p:spPr>
        <p:txBody>
          <a:bodyPr wrap="square" lIns="0" tIns="0" rIns="0" bIns="0" rtlCol="0" anchor="ctr"/>
          <a:lstStyle/>
          <a:p>
            <a:pPr indent="0" marL="0">
              <a:buNone/>
            </a:pPr>
            <a:r>
              <a:rPr lang="en-US" sz="950" dirty="0">
                <a:solidFill>
                  <a:srgbClr val="5B6A87"/>
                </a:solidFill>
                <a:latin typeface="Courier New" pitchFamily="34" charset="0"/>
                <a:ea typeface="Courier New" pitchFamily="34" charset="-122"/>
                <a:cs typeface="Courier New" pitchFamily="34" charset="-120"/>
              </a:rPr>
              <a:t>1. Request</a:t>
            </a:r>
            <a:endParaRPr lang="en-US" sz="950" dirty="0"/>
          </a:p>
        </p:txBody>
      </p:sp>
      <p:sp>
        <p:nvSpPr>
          <p:cNvPr id="17" name="Text 12"/>
          <p:cNvSpPr/>
          <p:nvPr/>
        </p:nvSpPr>
        <p:spPr>
          <a:xfrm>
            <a:off x="5623560" y="2029968"/>
            <a:ext cx="2194560" cy="228600"/>
          </a:xfrm>
          <a:prstGeom prst="rect">
            <a:avLst/>
          </a:prstGeom>
          <a:noFill/>
          <a:ln/>
        </p:spPr>
        <p:txBody>
          <a:bodyPr wrap="square" lIns="0" tIns="0" rIns="0" bIns="0" rtlCol="0" anchor="ctr"/>
          <a:lstStyle/>
          <a:p>
            <a:pPr indent="0" marL="0">
              <a:buNone/>
            </a:pPr>
            <a:r>
              <a:rPr lang="en-US" sz="950" dirty="0">
                <a:solidFill>
                  <a:srgbClr val="5B6A87"/>
                </a:solidFill>
                <a:latin typeface="Courier New" pitchFamily="34" charset="0"/>
                <a:ea typeface="Courier New" pitchFamily="34" charset="-122"/>
                <a:cs typeface="Courier New" pitchFamily="34" charset="-120"/>
              </a:rPr>
              <a:t>2. Intercept &amp; Hold</a:t>
            </a:r>
            <a:endParaRPr lang="en-US" sz="950" dirty="0"/>
          </a:p>
        </p:txBody>
      </p:sp>
      <p:sp>
        <p:nvSpPr>
          <p:cNvPr id="18" name="Shape 13"/>
          <p:cNvSpPr/>
          <p:nvPr/>
        </p:nvSpPr>
        <p:spPr>
          <a:xfrm>
            <a:off x="3611880" y="3931920"/>
            <a:ext cx="1965960" cy="868680"/>
          </a:xfrm>
          <a:prstGeom prst="roundRect">
            <a:avLst>
              <a:gd name="adj" fmla="val 8421"/>
            </a:avLst>
          </a:prstGeom>
          <a:solidFill>
            <a:srgbClr val="1B2740"/>
          </a:solidFill>
          <a:ln w="12700">
            <a:solidFill>
              <a:srgbClr val="263352"/>
            </a:solidFill>
            <a:prstDash val="solid"/>
          </a:ln>
        </p:spPr>
      </p:sp>
      <p:pic>
        <p:nvPicPr>
          <p:cNvPr id="19" name="Image 3" descr="preencoded.png">    </p:cNvPr>
          <p:cNvPicPr>
            <a:picLocks noChangeAspect="1"/>
          </p:cNvPicPr>
          <p:nvPr/>
        </p:nvPicPr>
        <p:blipFill>
          <a:blip r:embed="rId4"/>
          <a:stretch>
            <a:fillRect/>
          </a:stretch>
        </p:blipFill>
        <p:spPr>
          <a:xfrm>
            <a:off x="3776472" y="4174236"/>
            <a:ext cx="384048" cy="384048"/>
          </a:xfrm>
          <a:prstGeom prst="rect">
            <a:avLst/>
          </a:prstGeom>
        </p:spPr>
      </p:pic>
      <p:sp>
        <p:nvSpPr>
          <p:cNvPr id="20" name="Text 14"/>
          <p:cNvSpPr/>
          <p:nvPr/>
        </p:nvSpPr>
        <p:spPr>
          <a:xfrm>
            <a:off x="4233672" y="3931920"/>
            <a:ext cx="1216152" cy="868680"/>
          </a:xfrm>
          <a:prstGeom prst="rect">
            <a:avLst/>
          </a:prstGeom>
          <a:noFill/>
          <a:ln/>
        </p:spPr>
        <p:txBody>
          <a:bodyPr wrap="square" lIns="0" tIns="0" rIns="0" bIns="0" rtlCol="0" anchor="ctr"/>
          <a:lstStyle/>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Human</a:t>
            </a:r>
            <a:endParaRPr lang="en-US" sz="1150" dirty="0"/>
          </a:p>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Operator</a:t>
            </a:r>
            <a:endParaRPr lang="en-US" sz="1150" dirty="0"/>
          </a:p>
        </p:txBody>
      </p:sp>
      <p:sp>
        <p:nvSpPr>
          <p:cNvPr id="21" name="Shape 15"/>
          <p:cNvSpPr/>
          <p:nvPr/>
        </p:nvSpPr>
        <p:spPr>
          <a:xfrm>
            <a:off x="4594860" y="3931920"/>
            <a:ext cx="0" cy="-777240"/>
          </a:xfrm>
          <a:prstGeom prst="line">
            <a:avLst/>
          </a:prstGeom>
          <a:noFill/>
          <a:ln w="25400">
            <a:solidFill>
              <a:srgbClr val="5B6A87"/>
            </a:solidFill>
            <a:prstDash val="solid"/>
            <a:tailEnd type="triangle"/>
          </a:ln>
        </p:spPr>
      </p:sp>
      <p:sp>
        <p:nvSpPr>
          <p:cNvPr id="22" name="Text 16"/>
          <p:cNvSpPr/>
          <p:nvPr/>
        </p:nvSpPr>
        <p:spPr>
          <a:xfrm>
            <a:off x="5715000" y="4242816"/>
            <a:ext cx="3017520" cy="274320"/>
          </a:xfrm>
          <a:prstGeom prst="rect">
            <a:avLst/>
          </a:prstGeom>
          <a:noFill/>
          <a:ln/>
        </p:spPr>
        <p:txBody>
          <a:bodyPr wrap="square" lIns="0" tIns="0" rIns="0" bIns="0" rtlCol="0" anchor="ctr"/>
          <a:lstStyle/>
          <a:p>
            <a:pPr indent="0" marL="0">
              <a:buNone/>
            </a:pPr>
            <a:r>
              <a:rPr lang="en-US" sz="950" dirty="0">
                <a:solidFill>
                  <a:srgbClr val="5B6A87"/>
                </a:solidFill>
                <a:latin typeface="Courier New" pitchFamily="34" charset="0"/>
                <a:ea typeface="Courier New" pitchFamily="34" charset="-122"/>
                <a:cs typeface="Courier New" pitchFamily="34" charset="-120"/>
              </a:rPr>
              <a:t>3. Sign JWT (Approve / Deny)</a:t>
            </a:r>
            <a:endParaRPr lang="en-US" sz="950" dirty="0"/>
          </a:p>
        </p:txBody>
      </p:sp>
      <p:sp>
        <p:nvSpPr>
          <p:cNvPr id="23" name="Shape 17"/>
          <p:cNvSpPr/>
          <p:nvPr/>
        </p:nvSpPr>
        <p:spPr>
          <a:xfrm>
            <a:off x="6263640" y="3931920"/>
            <a:ext cx="1965960" cy="868680"/>
          </a:xfrm>
          <a:prstGeom prst="roundRect">
            <a:avLst>
              <a:gd name="adj" fmla="val 8421"/>
            </a:avLst>
          </a:prstGeom>
          <a:solidFill>
            <a:srgbClr val="1B2740"/>
          </a:solidFill>
          <a:ln w="12700">
            <a:solidFill>
              <a:srgbClr val="263352"/>
            </a:solidFill>
            <a:prstDash val="solid"/>
          </a:ln>
        </p:spPr>
      </p:sp>
      <p:pic>
        <p:nvPicPr>
          <p:cNvPr id="24" name="Image 4" descr="preencoded.png">    </p:cNvPr>
          <p:cNvPicPr>
            <a:picLocks noChangeAspect="1"/>
          </p:cNvPicPr>
          <p:nvPr/>
        </p:nvPicPr>
        <p:blipFill>
          <a:blip r:embed="rId5"/>
          <a:stretch>
            <a:fillRect/>
          </a:stretch>
        </p:blipFill>
        <p:spPr>
          <a:xfrm>
            <a:off x="6428232" y="4174236"/>
            <a:ext cx="384048" cy="384048"/>
          </a:xfrm>
          <a:prstGeom prst="rect">
            <a:avLst/>
          </a:prstGeom>
        </p:spPr>
      </p:pic>
      <p:sp>
        <p:nvSpPr>
          <p:cNvPr id="25" name="Text 18"/>
          <p:cNvSpPr/>
          <p:nvPr/>
        </p:nvSpPr>
        <p:spPr>
          <a:xfrm>
            <a:off x="6885432" y="3931920"/>
            <a:ext cx="1216152" cy="868680"/>
          </a:xfrm>
          <a:prstGeom prst="rect">
            <a:avLst/>
          </a:prstGeom>
          <a:noFill/>
          <a:ln/>
        </p:spPr>
        <p:txBody>
          <a:bodyPr wrap="square" lIns="0" tIns="0" rIns="0" bIns="0" rtlCol="0" anchor="ctr"/>
          <a:lstStyle/>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Production</a:t>
            </a:r>
            <a:endParaRPr lang="en-US" sz="1150" dirty="0"/>
          </a:p>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Infra</a:t>
            </a:r>
            <a:endParaRPr lang="en-US" sz="1150" dirty="0"/>
          </a:p>
        </p:txBody>
      </p:sp>
      <p:sp>
        <p:nvSpPr>
          <p:cNvPr id="26" name="Shape 19"/>
          <p:cNvSpPr/>
          <p:nvPr/>
        </p:nvSpPr>
        <p:spPr>
          <a:xfrm>
            <a:off x="5577840" y="2980944"/>
            <a:ext cx="685800" cy="658368"/>
          </a:xfrm>
          <a:prstGeom prst="line">
            <a:avLst/>
          </a:prstGeom>
          <a:noFill/>
          <a:ln w="25400">
            <a:solidFill>
              <a:srgbClr val="5B6A87"/>
            </a:solidFill>
            <a:prstDash val="solid"/>
            <a:tailEnd type="triangle"/>
          </a:ln>
        </p:spPr>
      </p:sp>
      <p:sp>
        <p:nvSpPr>
          <p:cNvPr id="27" name="Text 20"/>
          <p:cNvSpPr/>
          <p:nvPr/>
        </p:nvSpPr>
        <p:spPr>
          <a:xfrm>
            <a:off x="6126480" y="3209544"/>
            <a:ext cx="2194560" cy="228600"/>
          </a:xfrm>
          <a:prstGeom prst="rect">
            <a:avLst/>
          </a:prstGeom>
          <a:noFill/>
          <a:ln/>
        </p:spPr>
        <p:txBody>
          <a:bodyPr wrap="square" lIns="0" tIns="0" rIns="0" bIns="0" rtlCol="0" anchor="ctr"/>
          <a:lstStyle/>
          <a:p>
            <a:pPr indent="0" marL="0">
              <a:buNone/>
            </a:pPr>
            <a:r>
              <a:rPr lang="en-US" sz="950" dirty="0">
                <a:solidFill>
                  <a:srgbClr val="5B6A87"/>
                </a:solidFill>
                <a:latin typeface="Courier New" pitchFamily="34" charset="0"/>
                <a:ea typeface="Courier New" pitchFamily="34" charset="-122"/>
                <a:cs typeface="Courier New" pitchFamily="34" charset="-120"/>
              </a:rPr>
              <a:t>4. Verify &amp; Execute</a:t>
            </a:r>
            <a:endParaRPr lang="en-US" sz="950" dirty="0"/>
          </a:p>
        </p:txBody>
      </p:sp>
      <p:sp>
        <p:nvSpPr>
          <p:cNvPr id="28" name="Shape 21"/>
          <p:cNvSpPr/>
          <p:nvPr/>
        </p:nvSpPr>
        <p:spPr>
          <a:xfrm>
            <a:off x="8915400" y="2286000"/>
            <a:ext cx="1965960" cy="868680"/>
          </a:xfrm>
          <a:prstGeom prst="roundRect">
            <a:avLst>
              <a:gd name="adj" fmla="val 8421"/>
            </a:avLst>
          </a:prstGeom>
          <a:solidFill>
            <a:srgbClr val="1B2740"/>
          </a:solidFill>
          <a:ln w="12700">
            <a:solidFill>
              <a:srgbClr val="263352"/>
            </a:solidFill>
            <a:prstDash val="solid"/>
          </a:ln>
        </p:spPr>
      </p:sp>
      <p:pic>
        <p:nvPicPr>
          <p:cNvPr id="29" name="Image 5" descr="preencoded.png">    </p:cNvPr>
          <p:cNvPicPr>
            <a:picLocks noChangeAspect="1"/>
          </p:cNvPicPr>
          <p:nvPr/>
        </p:nvPicPr>
        <p:blipFill>
          <a:blip r:embed="rId6"/>
          <a:stretch>
            <a:fillRect/>
          </a:stretch>
        </p:blipFill>
        <p:spPr>
          <a:xfrm>
            <a:off x="9079992" y="2528316"/>
            <a:ext cx="384048" cy="384048"/>
          </a:xfrm>
          <a:prstGeom prst="rect">
            <a:avLst/>
          </a:prstGeom>
        </p:spPr>
      </p:pic>
      <p:sp>
        <p:nvSpPr>
          <p:cNvPr id="30" name="Text 22"/>
          <p:cNvSpPr/>
          <p:nvPr/>
        </p:nvSpPr>
        <p:spPr>
          <a:xfrm>
            <a:off x="9537192" y="2286000"/>
            <a:ext cx="1216152" cy="868680"/>
          </a:xfrm>
          <a:prstGeom prst="rect">
            <a:avLst/>
          </a:prstGeom>
          <a:noFill/>
          <a:ln/>
        </p:spPr>
        <p:txBody>
          <a:bodyPr wrap="square" lIns="0" tIns="0" rIns="0" bIns="0" rtlCol="0" anchor="ctr"/>
          <a:lstStyle/>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SQLite</a:t>
            </a:r>
            <a:endParaRPr lang="en-US" sz="1150" dirty="0"/>
          </a:p>
          <a:p>
            <a:pPr indent="0" marL="0">
              <a:lnSpc>
                <a:spcPct val="100000"/>
              </a:lnSpc>
              <a:buNone/>
            </a:pPr>
            <a:r>
              <a:rPr lang="en-US" sz="1150" b="1" dirty="0">
                <a:solidFill>
                  <a:srgbClr val="F5F7FA"/>
                </a:solidFill>
                <a:latin typeface="Calibri" pitchFamily="34" charset="0"/>
                <a:ea typeface="Calibri" pitchFamily="34" charset="-122"/>
                <a:cs typeface="Calibri" pitchFamily="34" charset="-120"/>
              </a:rPr>
              <a:t>Audit DB</a:t>
            </a:r>
            <a:endParaRPr lang="en-US" sz="1150" dirty="0"/>
          </a:p>
        </p:txBody>
      </p:sp>
      <p:sp>
        <p:nvSpPr>
          <p:cNvPr id="31" name="Shape 23"/>
          <p:cNvSpPr/>
          <p:nvPr/>
        </p:nvSpPr>
        <p:spPr>
          <a:xfrm>
            <a:off x="4594860" y="2720340"/>
            <a:ext cx="4320540" cy="0"/>
          </a:xfrm>
          <a:prstGeom prst="line">
            <a:avLst/>
          </a:prstGeom>
          <a:noFill/>
          <a:ln w="19050">
            <a:solidFill>
              <a:srgbClr val="22D3EE"/>
            </a:solidFill>
            <a:prstDash val="dash"/>
            <a:tailEnd type="triangle"/>
          </a:ln>
        </p:spPr>
      </p:sp>
      <p:sp>
        <p:nvSpPr>
          <p:cNvPr id="32" name="Text 24"/>
          <p:cNvSpPr/>
          <p:nvPr/>
        </p:nvSpPr>
        <p:spPr>
          <a:xfrm>
            <a:off x="5897880" y="2029968"/>
            <a:ext cx="1645920" cy="228600"/>
          </a:xfrm>
          <a:prstGeom prst="rect">
            <a:avLst/>
          </a:prstGeom>
          <a:noFill/>
          <a:ln/>
        </p:spPr>
        <p:txBody>
          <a:bodyPr wrap="square" lIns="0" tIns="0" rIns="0" bIns="0" rtlCol="0" anchor="ctr"/>
          <a:lstStyle/>
          <a:p>
            <a:pPr indent="0" marL="0">
              <a:buNone/>
            </a:pPr>
            <a:r>
              <a:rPr lang="en-US" sz="900" dirty="0">
                <a:solidFill>
                  <a:srgbClr val="22D3EE"/>
                </a:solidFill>
                <a:latin typeface="Courier New" pitchFamily="34" charset="0"/>
                <a:ea typeface="Courier New" pitchFamily="34" charset="-122"/>
                <a:cs typeface="Courier New" pitchFamily="34" charset="-120"/>
              </a:rPr>
              <a:t>5. Log Event</a:t>
            </a:r>
            <a:endParaRPr lang="en-US" sz="900" dirty="0"/>
          </a:p>
        </p:txBody>
      </p:sp>
      <p:sp>
        <p:nvSpPr>
          <p:cNvPr id="33" name="Shape 25"/>
          <p:cNvSpPr/>
          <p:nvPr/>
        </p:nvSpPr>
        <p:spPr>
          <a:xfrm>
            <a:off x="548640" y="5367528"/>
            <a:ext cx="2651760" cy="960120"/>
          </a:xfrm>
          <a:prstGeom prst="roundRect">
            <a:avLst>
              <a:gd name="adj" fmla="val 7619"/>
            </a:avLst>
          </a:prstGeom>
          <a:solidFill>
            <a:srgbClr val="1B2740"/>
          </a:solidFill>
          <a:ln w="12700">
            <a:solidFill>
              <a:srgbClr val="263352"/>
            </a:solidFill>
            <a:prstDash val="solid"/>
          </a:ln>
        </p:spPr>
      </p:sp>
      <p:pic>
        <p:nvPicPr>
          <p:cNvPr id="34" name="Image 6" descr="preencoded.png">    </p:cNvPr>
          <p:cNvPicPr>
            <a:picLocks noChangeAspect="1"/>
          </p:cNvPicPr>
          <p:nvPr/>
        </p:nvPicPr>
        <p:blipFill>
          <a:blip r:embed="rId7"/>
          <a:stretch>
            <a:fillRect/>
          </a:stretch>
        </p:blipFill>
        <p:spPr>
          <a:xfrm>
            <a:off x="713232" y="5513832"/>
            <a:ext cx="310896" cy="310896"/>
          </a:xfrm>
          <a:prstGeom prst="rect">
            <a:avLst/>
          </a:prstGeom>
        </p:spPr>
      </p:pic>
      <p:sp>
        <p:nvSpPr>
          <p:cNvPr id="35" name="Text 26"/>
          <p:cNvSpPr/>
          <p:nvPr/>
        </p:nvSpPr>
        <p:spPr>
          <a:xfrm>
            <a:off x="1115568" y="5477256"/>
            <a:ext cx="1965960" cy="274320"/>
          </a:xfrm>
          <a:prstGeom prst="rect">
            <a:avLst/>
          </a:prstGeom>
          <a:noFill/>
          <a:ln/>
        </p:spPr>
        <p:txBody>
          <a:bodyPr wrap="square" lIns="0" tIns="0"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Active Monitoring</a:t>
            </a:r>
            <a:endParaRPr lang="en-US" sz="1150" dirty="0"/>
          </a:p>
        </p:txBody>
      </p:sp>
      <p:sp>
        <p:nvSpPr>
          <p:cNvPr id="36" name="Text 27"/>
          <p:cNvSpPr/>
          <p:nvPr/>
        </p:nvSpPr>
        <p:spPr>
          <a:xfrm>
            <a:off x="713232" y="5824728"/>
            <a:ext cx="2322576" cy="457200"/>
          </a:xfrm>
          <a:prstGeom prst="rect">
            <a:avLst/>
          </a:prstGeom>
          <a:noFill/>
          <a:ln/>
        </p:spPr>
        <p:txBody>
          <a:bodyPr wrap="square" lIns="0" tIns="0" rIns="0" bIns="0" rtlCol="0" anchor="ctr"/>
          <a:lstStyle/>
          <a:p>
            <a:pPr indent="0" marL="0">
              <a:lnSpc>
                <a:spcPct val="105000"/>
              </a:lnSpc>
              <a:buNone/>
            </a:pPr>
            <a:r>
              <a:rPr lang="en-US" sz="950" dirty="0">
                <a:solidFill>
                  <a:srgbClr val="8B98B0"/>
                </a:solidFill>
                <a:latin typeface="Calibri" pitchFamily="34" charset="0"/>
                <a:ea typeface="Calibri" pitchFamily="34" charset="-122"/>
                <a:cs typeface="Calibri" pitchFamily="34" charset="-120"/>
              </a:rPr>
              <a:t>Observability detects the incident.</a:t>
            </a:r>
            <a:endParaRPr lang="en-US" sz="950" dirty="0"/>
          </a:p>
        </p:txBody>
      </p:sp>
      <p:sp>
        <p:nvSpPr>
          <p:cNvPr id="37" name="Shape 28"/>
          <p:cNvSpPr/>
          <p:nvPr/>
        </p:nvSpPr>
        <p:spPr>
          <a:xfrm>
            <a:off x="3401568" y="5367528"/>
            <a:ext cx="2651760" cy="960120"/>
          </a:xfrm>
          <a:prstGeom prst="roundRect">
            <a:avLst>
              <a:gd name="adj" fmla="val 7619"/>
            </a:avLst>
          </a:prstGeom>
          <a:solidFill>
            <a:srgbClr val="1B2740"/>
          </a:solidFill>
          <a:ln w="12700">
            <a:solidFill>
              <a:srgbClr val="263352"/>
            </a:solidFill>
            <a:prstDash val="solid"/>
          </a:ln>
        </p:spPr>
      </p:sp>
      <p:pic>
        <p:nvPicPr>
          <p:cNvPr id="38" name="Image 7" descr="preencoded.png">    </p:cNvPr>
          <p:cNvPicPr>
            <a:picLocks noChangeAspect="1"/>
          </p:cNvPicPr>
          <p:nvPr/>
        </p:nvPicPr>
        <p:blipFill>
          <a:blip r:embed="rId8"/>
          <a:stretch>
            <a:fillRect/>
          </a:stretch>
        </p:blipFill>
        <p:spPr>
          <a:xfrm>
            <a:off x="3566160" y="5513832"/>
            <a:ext cx="310896" cy="310896"/>
          </a:xfrm>
          <a:prstGeom prst="rect">
            <a:avLst/>
          </a:prstGeom>
        </p:spPr>
      </p:pic>
      <p:sp>
        <p:nvSpPr>
          <p:cNvPr id="39" name="Text 29"/>
          <p:cNvSpPr/>
          <p:nvPr/>
        </p:nvSpPr>
        <p:spPr>
          <a:xfrm>
            <a:off x="3968496" y="5477256"/>
            <a:ext cx="1965960" cy="274320"/>
          </a:xfrm>
          <a:prstGeom prst="rect">
            <a:avLst/>
          </a:prstGeom>
          <a:noFill/>
          <a:ln/>
        </p:spPr>
        <p:txBody>
          <a:bodyPr wrap="square" lIns="0" tIns="0"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Interception Gate</a:t>
            </a:r>
            <a:endParaRPr lang="en-US" sz="1150" dirty="0"/>
          </a:p>
        </p:txBody>
      </p:sp>
      <p:sp>
        <p:nvSpPr>
          <p:cNvPr id="40" name="Text 30"/>
          <p:cNvSpPr/>
          <p:nvPr/>
        </p:nvSpPr>
        <p:spPr>
          <a:xfrm>
            <a:off x="3566160" y="5824728"/>
            <a:ext cx="2322576" cy="457200"/>
          </a:xfrm>
          <a:prstGeom prst="rect">
            <a:avLst/>
          </a:prstGeom>
          <a:noFill/>
          <a:ln/>
        </p:spPr>
        <p:txBody>
          <a:bodyPr wrap="square" lIns="0" tIns="0" rIns="0" bIns="0" rtlCol="0" anchor="ctr"/>
          <a:lstStyle/>
          <a:p>
            <a:pPr indent="0" marL="0">
              <a:lnSpc>
                <a:spcPct val="105000"/>
              </a:lnSpc>
              <a:buNone/>
            </a:pPr>
            <a:r>
              <a:rPr lang="en-US" sz="950" dirty="0">
                <a:solidFill>
                  <a:srgbClr val="8B98B0"/>
                </a:solidFill>
                <a:latin typeface="Calibri" pitchFamily="34" charset="0"/>
                <a:ea typeface="Calibri" pitchFamily="34" charset="-122"/>
                <a:cs typeface="Calibri" pitchFamily="34" charset="-120"/>
              </a:rPr>
              <a:t>execute_rollback halts for approval.</a:t>
            </a:r>
            <a:endParaRPr lang="en-US" sz="950" dirty="0"/>
          </a:p>
        </p:txBody>
      </p:sp>
      <p:sp>
        <p:nvSpPr>
          <p:cNvPr id="41" name="Shape 31"/>
          <p:cNvSpPr/>
          <p:nvPr/>
        </p:nvSpPr>
        <p:spPr>
          <a:xfrm>
            <a:off x="6254496" y="5367528"/>
            <a:ext cx="2651760" cy="960120"/>
          </a:xfrm>
          <a:prstGeom prst="roundRect">
            <a:avLst>
              <a:gd name="adj" fmla="val 7619"/>
            </a:avLst>
          </a:prstGeom>
          <a:solidFill>
            <a:srgbClr val="1B2740"/>
          </a:solidFill>
          <a:ln w="12700">
            <a:solidFill>
              <a:srgbClr val="263352"/>
            </a:solidFill>
            <a:prstDash val="solid"/>
          </a:ln>
        </p:spPr>
      </p:sp>
      <p:pic>
        <p:nvPicPr>
          <p:cNvPr id="42" name="Image 8" descr="preencoded.png">    </p:cNvPr>
          <p:cNvPicPr>
            <a:picLocks noChangeAspect="1"/>
          </p:cNvPicPr>
          <p:nvPr/>
        </p:nvPicPr>
        <p:blipFill>
          <a:blip r:embed="rId9"/>
          <a:stretch>
            <a:fillRect/>
          </a:stretch>
        </p:blipFill>
        <p:spPr>
          <a:xfrm>
            <a:off x="6419088" y="5513832"/>
            <a:ext cx="310896" cy="310896"/>
          </a:xfrm>
          <a:prstGeom prst="rect">
            <a:avLst/>
          </a:prstGeom>
        </p:spPr>
      </p:pic>
      <p:sp>
        <p:nvSpPr>
          <p:cNvPr id="43" name="Text 32"/>
          <p:cNvSpPr/>
          <p:nvPr/>
        </p:nvSpPr>
        <p:spPr>
          <a:xfrm>
            <a:off x="6821424" y="5477256"/>
            <a:ext cx="1965960" cy="274320"/>
          </a:xfrm>
          <a:prstGeom prst="rect">
            <a:avLst/>
          </a:prstGeom>
          <a:noFill/>
          <a:ln/>
        </p:spPr>
        <p:txBody>
          <a:bodyPr wrap="square" lIns="0" tIns="0"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Multiple Interfaces</a:t>
            </a:r>
            <a:endParaRPr lang="en-US" sz="1150" dirty="0"/>
          </a:p>
        </p:txBody>
      </p:sp>
      <p:sp>
        <p:nvSpPr>
          <p:cNvPr id="44" name="Text 33"/>
          <p:cNvSpPr/>
          <p:nvPr/>
        </p:nvSpPr>
        <p:spPr>
          <a:xfrm>
            <a:off x="6419088" y="5824728"/>
            <a:ext cx="2322576" cy="457200"/>
          </a:xfrm>
          <a:prstGeom prst="rect">
            <a:avLst/>
          </a:prstGeom>
          <a:noFill/>
          <a:ln/>
        </p:spPr>
        <p:txBody>
          <a:bodyPr wrap="square" lIns="0" tIns="0" rIns="0" bIns="0" rtlCol="0" anchor="ctr"/>
          <a:lstStyle/>
          <a:p>
            <a:pPr indent="0" marL="0">
              <a:lnSpc>
                <a:spcPct val="105000"/>
              </a:lnSpc>
              <a:buNone/>
            </a:pPr>
            <a:r>
              <a:rPr lang="en-US" sz="950" dirty="0">
                <a:solidFill>
                  <a:srgbClr val="8B98B0"/>
                </a:solidFill>
                <a:latin typeface="Calibri" pitchFamily="34" charset="0"/>
                <a:ea typeface="Calibri" pitchFamily="34" charset="-122"/>
                <a:cs typeface="Calibri" pitchFamily="34" charset="-120"/>
              </a:rPr>
              <a:t>CLI (npm run approve) or WebSocket REST API.</a:t>
            </a:r>
            <a:endParaRPr lang="en-US" sz="950" dirty="0"/>
          </a:p>
        </p:txBody>
      </p:sp>
      <p:sp>
        <p:nvSpPr>
          <p:cNvPr id="45" name="Shape 34"/>
          <p:cNvSpPr/>
          <p:nvPr/>
        </p:nvSpPr>
        <p:spPr>
          <a:xfrm>
            <a:off x="9107424" y="5367528"/>
            <a:ext cx="2651760" cy="960120"/>
          </a:xfrm>
          <a:prstGeom prst="roundRect">
            <a:avLst>
              <a:gd name="adj" fmla="val 7619"/>
            </a:avLst>
          </a:prstGeom>
          <a:solidFill>
            <a:srgbClr val="1B2740"/>
          </a:solidFill>
          <a:ln w="12700">
            <a:solidFill>
              <a:srgbClr val="263352"/>
            </a:solidFill>
            <a:prstDash val="solid"/>
          </a:ln>
        </p:spPr>
      </p:sp>
      <p:pic>
        <p:nvPicPr>
          <p:cNvPr id="46" name="Image 9" descr="preencoded.png">    </p:cNvPr>
          <p:cNvPicPr>
            <a:picLocks noChangeAspect="1"/>
          </p:cNvPicPr>
          <p:nvPr/>
        </p:nvPicPr>
        <p:blipFill>
          <a:blip r:embed="rId10"/>
          <a:stretch>
            <a:fillRect/>
          </a:stretch>
        </p:blipFill>
        <p:spPr>
          <a:xfrm>
            <a:off x="9272016" y="5513832"/>
            <a:ext cx="310896" cy="310896"/>
          </a:xfrm>
          <a:prstGeom prst="rect">
            <a:avLst/>
          </a:prstGeom>
        </p:spPr>
      </p:pic>
      <p:sp>
        <p:nvSpPr>
          <p:cNvPr id="47" name="Text 35"/>
          <p:cNvSpPr/>
          <p:nvPr/>
        </p:nvSpPr>
        <p:spPr>
          <a:xfrm>
            <a:off x="9674352" y="5477256"/>
            <a:ext cx="1965960" cy="274320"/>
          </a:xfrm>
          <a:prstGeom prst="rect">
            <a:avLst/>
          </a:prstGeom>
          <a:noFill/>
          <a:ln/>
        </p:spPr>
        <p:txBody>
          <a:bodyPr wrap="square" lIns="0" tIns="0" rIns="0" bIns="0" rtlCol="0" anchor="ctr"/>
          <a:lstStyle/>
          <a:p>
            <a:pPr indent="0" marL="0">
              <a:buNone/>
            </a:pPr>
            <a:r>
              <a:rPr lang="en-US" sz="1150" b="1" dirty="0">
                <a:solidFill>
                  <a:srgbClr val="F5F7FA"/>
                </a:solidFill>
                <a:latin typeface="Calibri" pitchFamily="34" charset="0"/>
                <a:ea typeface="Calibri" pitchFamily="34" charset="-122"/>
                <a:cs typeface="Calibri" pitchFamily="34" charset="-120"/>
              </a:rPr>
              <a:t>Immutable Audit Trail</a:t>
            </a:r>
            <a:endParaRPr lang="en-US" sz="1150" dirty="0"/>
          </a:p>
        </p:txBody>
      </p:sp>
      <p:sp>
        <p:nvSpPr>
          <p:cNvPr id="48" name="Text 36"/>
          <p:cNvSpPr/>
          <p:nvPr/>
        </p:nvSpPr>
        <p:spPr>
          <a:xfrm>
            <a:off x="9272016" y="5824728"/>
            <a:ext cx="2322576" cy="457200"/>
          </a:xfrm>
          <a:prstGeom prst="rect">
            <a:avLst/>
          </a:prstGeom>
          <a:noFill/>
          <a:ln/>
        </p:spPr>
        <p:txBody>
          <a:bodyPr wrap="square" lIns="0" tIns="0" rIns="0" bIns="0" rtlCol="0" anchor="ctr"/>
          <a:lstStyle/>
          <a:p>
            <a:pPr indent="0" marL="0">
              <a:lnSpc>
                <a:spcPct val="105000"/>
              </a:lnSpc>
              <a:buNone/>
            </a:pPr>
            <a:r>
              <a:rPr lang="en-US" sz="950" dirty="0">
                <a:solidFill>
                  <a:srgbClr val="8B98B0"/>
                </a:solidFill>
                <a:latin typeface="Calibri" pitchFamily="34" charset="0"/>
                <a:ea typeface="Calibri" pitchFamily="34" charset="-122"/>
                <a:cs typeface="Calibri" pitchFamily="34" charset="-120"/>
              </a:rPr>
              <a:t>Tamper-proof SQLite log of every decision.</a:t>
            </a:r>
            <a:endParaRPr lang="en-US" sz="950" dirty="0"/>
          </a:p>
        </p:txBody>
      </p:sp>
      <p:sp>
        <p:nvSpPr>
          <p:cNvPr id="49" name="Text 37"/>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50" name="Text 38"/>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HOW IT WORKS</a:t>
            </a:r>
            <a:endParaRPr lang="en-US" sz="900" dirty="0"/>
          </a:p>
        </p:txBody>
      </p:sp>
      <p:sp>
        <p:nvSpPr>
          <p:cNvPr id="51" name="Text 39"/>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04 / 07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00F5A0"/>
                </a:solidFill>
                <a:latin typeface="Courier New" pitchFamily="34" charset="0"/>
                <a:ea typeface="Courier New" pitchFamily="34" charset="-122"/>
                <a:cs typeface="Courier New" pitchFamily="34" charset="-120"/>
              </a:rPr>
              <a:t>DYNAMIC CONTEXT</a:t>
            </a:r>
            <a:endParaRPr lang="en-US" sz="1200" dirty="0"/>
          </a:p>
        </p:txBody>
      </p:sp>
      <p:sp>
        <p:nvSpPr>
          <p:cNvPr id="3" name="Text 1"/>
          <p:cNvSpPr/>
          <p:nvPr/>
        </p:nvSpPr>
        <p:spPr>
          <a:xfrm>
            <a:off x="548640" y="786384"/>
            <a:ext cx="11064240" cy="685800"/>
          </a:xfrm>
          <a:prstGeom prst="rect">
            <a:avLst/>
          </a:prstGeom>
          <a:noFill/>
          <a:ln/>
        </p:spPr>
        <p:txBody>
          <a:bodyPr wrap="square" lIns="0" tIns="0" rIns="0" bIns="0" rtlCol="0" anchor="t"/>
          <a:lstStyle/>
          <a:p>
            <a:pPr algn="l" indent="0" marL="0">
              <a:buNone/>
            </a:pPr>
            <a:r>
              <a:rPr lang="en-US" sz="3000" b="1" dirty="0">
                <a:solidFill>
                  <a:srgbClr val="F5F7FA"/>
                </a:solidFill>
                <a:latin typeface="Cambria" pitchFamily="34" charset="0"/>
                <a:ea typeface="Cambria" pitchFamily="34" charset="-122"/>
                <a:cs typeface="Cambria" pitchFamily="34" charset="-120"/>
              </a:rPr>
              <a:t>Infrastructure Blast Radius Analysis</a:t>
            </a:r>
            <a:endParaRPr lang="en-US" sz="3000" dirty="0"/>
          </a:p>
        </p:txBody>
      </p:sp>
      <p:sp>
        <p:nvSpPr>
          <p:cNvPr id="4" name="Shape 2"/>
          <p:cNvSpPr/>
          <p:nvPr/>
        </p:nvSpPr>
        <p:spPr>
          <a:xfrm>
            <a:off x="548640" y="1828800"/>
            <a:ext cx="6675120" cy="4160520"/>
          </a:xfrm>
          <a:prstGeom prst="roundRect">
            <a:avLst>
              <a:gd name="adj" fmla="val 2198"/>
            </a:avLst>
          </a:prstGeom>
          <a:solidFill>
            <a:srgbClr val="141C2E"/>
          </a:solidFill>
          <a:ln w="12700">
            <a:solidFill>
              <a:srgbClr val="263352"/>
            </a:solidFill>
            <a:prstDash val="solid"/>
          </a:ln>
        </p:spPr>
      </p:sp>
      <p:sp>
        <p:nvSpPr>
          <p:cNvPr id="5" name="Text 3"/>
          <p:cNvSpPr/>
          <p:nvPr/>
        </p:nvSpPr>
        <p:spPr>
          <a:xfrm>
            <a:off x="822960" y="2029968"/>
            <a:ext cx="6126480" cy="274320"/>
          </a:xfrm>
          <a:prstGeom prst="rect">
            <a:avLst/>
          </a:prstGeom>
          <a:noFill/>
          <a:ln/>
        </p:spPr>
        <p:txBody>
          <a:bodyPr wrap="square" lIns="0" tIns="0" rIns="0" bIns="0" rtlCol="0" anchor="ctr"/>
          <a:lstStyle/>
          <a:p>
            <a:pPr indent="0" marL="0">
              <a:buNone/>
            </a:pPr>
            <a:r>
              <a:rPr lang="en-US" sz="1050" spc="100" kern="0" dirty="0">
                <a:solidFill>
                  <a:srgbClr val="5B6A87"/>
                </a:solidFill>
                <a:latin typeface="Courier New" pitchFamily="34" charset="0"/>
                <a:ea typeface="Courier New" pitchFamily="34" charset="-122"/>
                <a:cs typeface="Courier New" pitchFamily="34" charset="-120"/>
              </a:rPr>
              <a:t>SERVICE DEPENDENCY GRAPH  ·  BFS TRAVERSAL</a:t>
            </a:r>
            <a:endParaRPr lang="en-US" sz="1050" dirty="0"/>
          </a:p>
        </p:txBody>
      </p:sp>
      <p:sp>
        <p:nvSpPr>
          <p:cNvPr id="6" name="Shape 4"/>
          <p:cNvSpPr/>
          <p:nvPr/>
        </p:nvSpPr>
        <p:spPr>
          <a:xfrm>
            <a:off x="1783080" y="4091940"/>
            <a:ext cx="1097280" cy="-1005840"/>
          </a:xfrm>
          <a:prstGeom prst="line">
            <a:avLst/>
          </a:prstGeom>
          <a:noFill/>
          <a:ln w="19050">
            <a:solidFill>
              <a:srgbClr val="22D3EE"/>
            </a:solidFill>
            <a:prstDash val="solid"/>
          </a:ln>
        </p:spPr>
      </p:sp>
      <p:sp>
        <p:nvSpPr>
          <p:cNvPr id="7" name="Shape 5"/>
          <p:cNvSpPr/>
          <p:nvPr/>
        </p:nvSpPr>
        <p:spPr>
          <a:xfrm>
            <a:off x="1783080" y="4091940"/>
            <a:ext cx="1097280" cy="960120"/>
          </a:xfrm>
          <a:prstGeom prst="line">
            <a:avLst/>
          </a:prstGeom>
          <a:noFill/>
          <a:ln w="19050">
            <a:solidFill>
              <a:srgbClr val="22D3EE"/>
            </a:solidFill>
            <a:prstDash val="solid"/>
          </a:ln>
        </p:spPr>
      </p:sp>
      <p:sp>
        <p:nvSpPr>
          <p:cNvPr id="8" name="Shape 6"/>
          <p:cNvSpPr/>
          <p:nvPr/>
        </p:nvSpPr>
        <p:spPr>
          <a:xfrm>
            <a:off x="3657600" y="3086100"/>
            <a:ext cx="1188720" cy="-457200"/>
          </a:xfrm>
          <a:prstGeom prst="line">
            <a:avLst/>
          </a:prstGeom>
          <a:noFill/>
          <a:ln w="19050">
            <a:solidFill>
              <a:srgbClr val="263352"/>
            </a:solidFill>
            <a:prstDash val="solid"/>
          </a:ln>
        </p:spPr>
      </p:sp>
      <p:sp>
        <p:nvSpPr>
          <p:cNvPr id="9" name="Shape 7"/>
          <p:cNvSpPr/>
          <p:nvPr/>
        </p:nvSpPr>
        <p:spPr>
          <a:xfrm>
            <a:off x="3657600" y="3086100"/>
            <a:ext cx="1188720" cy="548640"/>
          </a:xfrm>
          <a:prstGeom prst="line">
            <a:avLst/>
          </a:prstGeom>
          <a:noFill/>
          <a:ln w="19050">
            <a:solidFill>
              <a:srgbClr val="263352"/>
            </a:solidFill>
            <a:prstDash val="solid"/>
          </a:ln>
        </p:spPr>
      </p:sp>
      <p:sp>
        <p:nvSpPr>
          <p:cNvPr id="10" name="Shape 8"/>
          <p:cNvSpPr/>
          <p:nvPr/>
        </p:nvSpPr>
        <p:spPr>
          <a:xfrm>
            <a:off x="3657600" y="5052060"/>
            <a:ext cx="1188720" cy="457200"/>
          </a:xfrm>
          <a:prstGeom prst="line">
            <a:avLst/>
          </a:prstGeom>
          <a:noFill/>
          <a:ln w="19050">
            <a:solidFill>
              <a:srgbClr val="263352"/>
            </a:solidFill>
            <a:prstDash val="solid"/>
          </a:ln>
        </p:spPr>
      </p:sp>
      <p:sp>
        <p:nvSpPr>
          <p:cNvPr id="11" name="Shape 9"/>
          <p:cNvSpPr/>
          <p:nvPr/>
        </p:nvSpPr>
        <p:spPr>
          <a:xfrm>
            <a:off x="5623560" y="3634740"/>
            <a:ext cx="868680" cy="-502920"/>
          </a:xfrm>
          <a:prstGeom prst="line">
            <a:avLst/>
          </a:prstGeom>
          <a:noFill/>
          <a:ln w="19050">
            <a:solidFill>
              <a:srgbClr val="263352"/>
            </a:solidFill>
            <a:prstDash val="solid"/>
          </a:ln>
        </p:spPr>
      </p:sp>
      <p:sp>
        <p:nvSpPr>
          <p:cNvPr id="12" name="Shape 10"/>
          <p:cNvSpPr/>
          <p:nvPr/>
        </p:nvSpPr>
        <p:spPr>
          <a:xfrm>
            <a:off x="1005840" y="3703320"/>
            <a:ext cx="777240" cy="777240"/>
          </a:xfrm>
          <a:prstGeom prst="ellipse">
            <a:avLst/>
          </a:prstGeom>
          <a:solidFill>
            <a:srgbClr val="3D1B22"/>
          </a:solidFill>
          <a:ln w="19050">
            <a:solidFill>
              <a:srgbClr val="FF5C5C"/>
            </a:solidFill>
            <a:prstDash val="solid"/>
          </a:ln>
        </p:spPr>
      </p:sp>
      <p:pic>
        <p:nvPicPr>
          <p:cNvPr id="13" name="Image 0" descr="preencoded.png">    </p:cNvPr>
          <p:cNvPicPr>
            <a:picLocks noChangeAspect="1"/>
          </p:cNvPicPr>
          <p:nvPr/>
        </p:nvPicPr>
        <p:blipFill>
          <a:blip r:embed="rId1"/>
          <a:stretch>
            <a:fillRect/>
          </a:stretch>
        </p:blipFill>
        <p:spPr>
          <a:xfrm>
            <a:off x="1231240" y="3873856"/>
            <a:ext cx="326441" cy="326441"/>
          </a:xfrm>
          <a:prstGeom prst="rect">
            <a:avLst/>
          </a:prstGeom>
        </p:spPr>
      </p:pic>
      <p:sp>
        <p:nvSpPr>
          <p:cNvPr id="14" name="Text 11"/>
          <p:cNvSpPr/>
          <p:nvPr/>
        </p:nvSpPr>
        <p:spPr>
          <a:xfrm>
            <a:off x="685800" y="446227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payment</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gateway</a:t>
            </a:r>
            <a:endParaRPr lang="en-US" sz="850" dirty="0"/>
          </a:p>
        </p:txBody>
      </p:sp>
      <p:sp>
        <p:nvSpPr>
          <p:cNvPr id="15" name="Shape 12"/>
          <p:cNvSpPr/>
          <p:nvPr/>
        </p:nvSpPr>
        <p:spPr>
          <a:xfrm>
            <a:off x="2880360" y="2697480"/>
            <a:ext cx="777240" cy="777240"/>
          </a:xfrm>
          <a:prstGeom prst="ellipse">
            <a:avLst/>
          </a:prstGeom>
          <a:solidFill>
            <a:srgbClr val="1B2740"/>
          </a:solidFill>
          <a:ln w="19050">
            <a:solidFill>
              <a:srgbClr val="263352"/>
            </a:solidFill>
            <a:prstDash val="solid"/>
          </a:ln>
        </p:spPr>
      </p:sp>
      <p:pic>
        <p:nvPicPr>
          <p:cNvPr id="16" name="Image 1" descr="preencoded.png">    </p:cNvPr>
          <p:cNvPicPr>
            <a:picLocks noChangeAspect="1"/>
          </p:cNvPicPr>
          <p:nvPr/>
        </p:nvPicPr>
        <p:blipFill>
          <a:blip r:embed="rId2"/>
          <a:stretch>
            <a:fillRect/>
          </a:stretch>
        </p:blipFill>
        <p:spPr>
          <a:xfrm>
            <a:off x="3105760" y="2868016"/>
            <a:ext cx="326441" cy="326441"/>
          </a:xfrm>
          <a:prstGeom prst="rect">
            <a:avLst/>
          </a:prstGeom>
        </p:spPr>
      </p:pic>
      <p:sp>
        <p:nvSpPr>
          <p:cNvPr id="17" name="Text 13"/>
          <p:cNvSpPr/>
          <p:nvPr/>
        </p:nvSpPr>
        <p:spPr>
          <a:xfrm>
            <a:off x="2560320" y="345643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ledger</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service</a:t>
            </a:r>
            <a:endParaRPr lang="en-US" sz="850" dirty="0"/>
          </a:p>
        </p:txBody>
      </p:sp>
      <p:sp>
        <p:nvSpPr>
          <p:cNvPr id="18" name="Shape 14"/>
          <p:cNvSpPr/>
          <p:nvPr/>
        </p:nvSpPr>
        <p:spPr>
          <a:xfrm>
            <a:off x="2880360" y="4663440"/>
            <a:ext cx="777240" cy="777240"/>
          </a:xfrm>
          <a:prstGeom prst="ellipse">
            <a:avLst/>
          </a:prstGeom>
          <a:solidFill>
            <a:srgbClr val="1B2740"/>
          </a:solidFill>
          <a:ln w="19050">
            <a:solidFill>
              <a:srgbClr val="263352"/>
            </a:solidFill>
            <a:prstDash val="solid"/>
          </a:ln>
        </p:spPr>
      </p:sp>
      <p:pic>
        <p:nvPicPr>
          <p:cNvPr id="19" name="Image 2" descr="preencoded.png">    </p:cNvPr>
          <p:cNvPicPr>
            <a:picLocks noChangeAspect="1"/>
          </p:cNvPicPr>
          <p:nvPr/>
        </p:nvPicPr>
        <p:blipFill>
          <a:blip r:embed="rId3"/>
          <a:stretch>
            <a:fillRect/>
          </a:stretch>
        </p:blipFill>
        <p:spPr>
          <a:xfrm>
            <a:off x="3105760" y="4833976"/>
            <a:ext cx="326441" cy="326441"/>
          </a:xfrm>
          <a:prstGeom prst="rect">
            <a:avLst/>
          </a:prstGeom>
        </p:spPr>
      </p:pic>
      <p:sp>
        <p:nvSpPr>
          <p:cNvPr id="20" name="Text 15"/>
          <p:cNvSpPr/>
          <p:nvPr/>
        </p:nvSpPr>
        <p:spPr>
          <a:xfrm>
            <a:off x="2560320" y="542239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notif.</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service</a:t>
            </a:r>
            <a:endParaRPr lang="en-US" sz="850" dirty="0"/>
          </a:p>
        </p:txBody>
      </p:sp>
      <p:sp>
        <p:nvSpPr>
          <p:cNvPr id="21" name="Shape 16"/>
          <p:cNvSpPr/>
          <p:nvPr/>
        </p:nvSpPr>
        <p:spPr>
          <a:xfrm>
            <a:off x="4846320" y="2240280"/>
            <a:ext cx="777240" cy="777240"/>
          </a:xfrm>
          <a:prstGeom prst="ellipse">
            <a:avLst/>
          </a:prstGeom>
          <a:solidFill>
            <a:srgbClr val="1B2740"/>
          </a:solidFill>
          <a:ln w="19050">
            <a:solidFill>
              <a:srgbClr val="263352"/>
            </a:solidFill>
            <a:prstDash val="solid"/>
          </a:ln>
        </p:spPr>
      </p:sp>
      <p:pic>
        <p:nvPicPr>
          <p:cNvPr id="22" name="Image 3" descr="preencoded.png">    </p:cNvPr>
          <p:cNvPicPr>
            <a:picLocks noChangeAspect="1"/>
          </p:cNvPicPr>
          <p:nvPr/>
        </p:nvPicPr>
        <p:blipFill>
          <a:blip r:embed="rId4"/>
          <a:stretch>
            <a:fillRect/>
          </a:stretch>
        </p:blipFill>
        <p:spPr>
          <a:xfrm>
            <a:off x="5071720" y="2410816"/>
            <a:ext cx="326441" cy="326441"/>
          </a:xfrm>
          <a:prstGeom prst="rect">
            <a:avLst/>
          </a:prstGeom>
        </p:spPr>
      </p:pic>
      <p:sp>
        <p:nvSpPr>
          <p:cNvPr id="23" name="Text 17"/>
          <p:cNvSpPr/>
          <p:nvPr/>
        </p:nvSpPr>
        <p:spPr>
          <a:xfrm>
            <a:off x="4526280" y="299923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billing</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API</a:t>
            </a:r>
            <a:endParaRPr lang="en-US" sz="850" dirty="0"/>
          </a:p>
        </p:txBody>
      </p:sp>
      <p:sp>
        <p:nvSpPr>
          <p:cNvPr id="24" name="Shape 18"/>
          <p:cNvSpPr/>
          <p:nvPr/>
        </p:nvSpPr>
        <p:spPr>
          <a:xfrm>
            <a:off x="4846320" y="3246120"/>
            <a:ext cx="777240" cy="777240"/>
          </a:xfrm>
          <a:prstGeom prst="ellipse">
            <a:avLst/>
          </a:prstGeom>
          <a:solidFill>
            <a:srgbClr val="1B2740"/>
          </a:solidFill>
          <a:ln w="19050">
            <a:solidFill>
              <a:srgbClr val="263352"/>
            </a:solidFill>
            <a:prstDash val="solid"/>
          </a:ln>
        </p:spPr>
      </p:sp>
      <p:pic>
        <p:nvPicPr>
          <p:cNvPr id="25" name="Image 4" descr="preencoded.png">    </p:cNvPr>
          <p:cNvPicPr>
            <a:picLocks noChangeAspect="1"/>
          </p:cNvPicPr>
          <p:nvPr/>
        </p:nvPicPr>
        <p:blipFill>
          <a:blip r:embed="rId5"/>
          <a:stretch>
            <a:fillRect/>
          </a:stretch>
        </p:blipFill>
        <p:spPr>
          <a:xfrm>
            <a:off x="5071720" y="3416656"/>
            <a:ext cx="326441" cy="326441"/>
          </a:xfrm>
          <a:prstGeom prst="rect">
            <a:avLst/>
          </a:prstGeom>
        </p:spPr>
      </p:pic>
      <p:sp>
        <p:nvSpPr>
          <p:cNvPr id="26" name="Text 19"/>
          <p:cNvSpPr/>
          <p:nvPr/>
        </p:nvSpPr>
        <p:spPr>
          <a:xfrm>
            <a:off x="4526280" y="400507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analytics</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pipeline</a:t>
            </a:r>
            <a:endParaRPr lang="en-US" sz="850" dirty="0"/>
          </a:p>
        </p:txBody>
      </p:sp>
      <p:sp>
        <p:nvSpPr>
          <p:cNvPr id="27" name="Shape 20"/>
          <p:cNvSpPr/>
          <p:nvPr/>
        </p:nvSpPr>
        <p:spPr>
          <a:xfrm>
            <a:off x="4846320" y="5120640"/>
            <a:ext cx="777240" cy="777240"/>
          </a:xfrm>
          <a:prstGeom prst="ellipse">
            <a:avLst/>
          </a:prstGeom>
          <a:solidFill>
            <a:srgbClr val="1B2740"/>
          </a:solidFill>
          <a:ln w="19050">
            <a:solidFill>
              <a:srgbClr val="263352"/>
            </a:solidFill>
            <a:prstDash val="solid"/>
          </a:ln>
        </p:spPr>
      </p:sp>
      <p:pic>
        <p:nvPicPr>
          <p:cNvPr id="28" name="Image 5" descr="preencoded.png">    </p:cNvPr>
          <p:cNvPicPr>
            <a:picLocks noChangeAspect="1"/>
          </p:cNvPicPr>
          <p:nvPr/>
        </p:nvPicPr>
        <p:blipFill>
          <a:blip r:embed="rId6"/>
          <a:stretch>
            <a:fillRect/>
          </a:stretch>
        </p:blipFill>
        <p:spPr>
          <a:xfrm>
            <a:off x="5071720" y="5291176"/>
            <a:ext cx="326441" cy="326441"/>
          </a:xfrm>
          <a:prstGeom prst="rect">
            <a:avLst/>
          </a:prstGeom>
        </p:spPr>
      </p:pic>
      <p:sp>
        <p:nvSpPr>
          <p:cNvPr id="29" name="Text 21"/>
          <p:cNvSpPr/>
          <p:nvPr/>
        </p:nvSpPr>
        <p:spPr>
          <a:xfrm>
            <a:off x="4526280" y="587959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email</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worker</a:t>
            </a:r>
            <a:endParaRPr lang="en-US" sz="850" dirty="0"/>
          </a:p>
        </p:txBody>
      </p:sp>
      <p:sp>
        <p:nvSpPr>
          <p:cNvPr id="30" name="Shape 22"/>
          <p:cNvSpPr/>
          <p:nvPr/>
        </p:nvSpPr>
        <p:spPr>
          <a:xfrm>
            <a:off x="6492240" y="2743200"/>
            <a:ext cx="777240" cy="777240"/>
          </a:xfrm>
          <a:prstGeom prst="ellipse">
            <a:avLst/>
          </a:prstGeom>
          <a:solidFill>
            <a:srgbClr val="1B2740"/>
          </a:solidFill>
          <a:ln w="19050">
            <a:solidFill>
              <a:srgbClr val="263352"/>
            </a:solidFill>
            <a:prstDash val="solid"/>
          </a:ln>
        </p:spPr>
      </p:sp>
      <p:pic>
        <p:nvPicPr>
          <p:cNvPr id="31" name="Image 6" descr="preencoded.png">    </p:cNvPr>
          <p:cNvPicPr>
            <a:picLocks noChangeAspect="1"/>
          </p:cNvPicPr>
          <p:nvPr/>
        </p:nvPicPr>
        <p:blipFill>
          <a:blip r:embed="rId7"/>
          <a:stretch>
            <a:fillRect/>
          </a:stretch>
        </p:blipFill>
        <p:spPr>
          <a:xfrm>
            <a:off x="6717640" y="2913736"/>
            <a:ext cx="326441" cy="326441"/>
          </a:xfrm>
          <a:prstGeom prst="rect">
            <a:avLst/>
          </a:prstGeom>
        </p:spPr>
      </p:pic>
      <p:sp>
        <p:nvSpPr>
          <p:cNvPr id="32" name="Text 23"/>
          <p:cNvSpPr/>
          <p:nvPr/>
        </p:nvSpPr>
        <p:spPr>
          <a:xfrm>
            <a:off x="6172200" y="3502152"/>
            <a:ext cx="1417320" cy="384048"/>
          </a:xfrm>
          <a:prstGeom prst="rect">
            <a:avLst/>
          </a:prstGeom>
          <a:noFill/>
          <a:ln/>
        </p:spPr>
        <p:txBody>
          <a:bodyPr wrap="square" lIns="0" tIns="0" rIns="0" bIns="0" rtlCol="0" anchor="ctr"/>
          <a:lstStyle/>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invoice</a:t>
            </a:r>
            <a:endParaRPr lang="en-US" sz="850" dirty="0"/>
          </a:p>
          <a:p>
            <a:pPr algn="ctr" indent="0" marL="0">
              <a:lnSpc>
                <a:spcPct val="95000"/>
              </a:lnSpc>
              <a:buNone/>
            </a:pPr>
            <a:r>
              <a:rPr lang="en-US" sz="850" dirty="0">
                <a:solidFill>
                  <a:srgbClr val="8B98B0"/>
                </a:solidFill>
                <a:latin typeface="Courier New" pitchFamily="34" charset="0"/>
                <a:ea typeface="Courier New" pitchFamily="34" charset="-122"/>
                <a:cs typeface="Courier New" pitchFamily="34" charset="-120"/>
              </a:rPr>
              <a:t>UI</a:t>
            </a:r>
            <a:endParaRPr lang="en-US" sz="850" dirty="0"/>
          </a:p>
        </p:txBody>
      </p:sp>
      <p:sp>
        <p:nvSpPr>
          <p:cNvPr id="33" name="Shape 24"/>
          <p:cNvSpPr/>
          <p:nvPr/>
        </p:nvSpPr>
        <p:spPr>
          <a:xfrm>
            <a:off x="822960" y="5532120"/>
            <a:ext cx="146304" cy="146304"/>
          </a:xfrm>
          <a:prstGeom prst="ellipse">
            <a:avLst/>
          </a:prstGeom>
          <a:solidFill>
            <a:srgbClr val="3D1B22"/>
          </a:solidFill>
          <a:ln w="15240">
            <a:solidFill>
              <a:srgbClr val="FF5C5C"/>
            </a:solidFill>
            <a:prstDash val="solid"/>
          </a:ln>
        </p:spPr>
      </p:sp>
      <p:sp>
        <p:nvSpPr>
          <p:cNvPr id="34" name="Text 25"/>
          <p:cNvSpPr/>
          <p:nvPr/>
        </p:nvSpPr>
        <p:spPr>
          <a:xfrm>
            <a:off x="1024128" y="5458968"/>
            <a:ext cx="1645920" cy="274320"/>
          </a:xfrm>
          <a:prstGeom prst="rect">
            <a:avLst/>
          </a:prstGeom>
          <a:noFill/>
          <a:ln/>
        </p:spPr>
        <p:txBody>
          <a:bodyPr wrap="square" lIns="0" tIns="0" rIns="0" bIns="0" rtlCol="0" anchor="ctr"/>
          <a:lstStyle/>
          <a:p>
            <a:pPr indent="0" marL="0">
              <a:buNone/>
            </a:pPr>
            <a:r>
              <a:rPr lang="en-US" sz="1000" dirty="0">
                <a:solidFill>
                  <a:srgbClr val="8B98B0"/>
                </a:solidFill>
                <a:latin typeface="Calibri" pitchFamily="34" charset="0"/>
                <a:ea typeface="Calibri" pitchFamily="34" charset="-122"/>
                <a:cs typeface="Calibri" pitchFamily="34" charset="-120"/>
              </a:rPr>
              <a:t>Rollback origin</a:t>
            </a:r>
            <a:endParaRPr lang="en-US" sz="1000" dirty="0"/>
          </a:p>
        </p:txBody>
      </p:sp>
      <p:sp>
        <p:nvSpPr>
          <p:cNvPr id="35" name="Shape 26"/>
          <p:cNvSpPr/>
          <p:nvPr/>
        </p:nvSpPr>
        <p:spPr>
          <a:xfrm>
            <a:off x="2834640" y="5605272"/>
            <a:ext cx="365760" cy="0"/>
          </a:xfrm>
          <a:prstGeom prst="line">
            <a:avLst/>
          </a:prstGeom>
          <a:noFill/>
          <a:ln w="19050">
            <a:solidFill>
              <a:srgbClr val="22D3EE"/>
            </a:solidFill>
            <a:prstDash val="solid"/>
          </a:ln>
        </p:spPr>
      </p:sp>
      <p:sp>
        <p:nvSpPr>
          <p:cNvPr id="36" name="Text 27"/>
          <p:cNvSpPr/>
          <p:nvPr/>
        </p:nvSpPr>
        <p:spPr>
          <a:xfrm>
            <a:off x="3273552" y="5458968"/>
            <a:ext cx="2743200" cy="274320"/>
          </a:xfrm>
          <a:prstGeom prst="rect">
            <a:avLst/>
          </a:prstGeom>
          <a:noFill/>
          <a:ln/>
        </p:spPr>
        <p:txBody>
          <a:bodyPr wrap="square" lIns="0" tIns="0" rIns="0" bIns="0" rtlCol="0" anchor="ctr"/>
          <a:lstStyle/>
          <a:p>
            <a:pPr indent="0" marL="0">
              <a:buNone/>
            </a:pPr>
            <a:r>
              <a:rPr lang="en-US" sz="1000" dirty="0">
                <a:solidFill>
                  <a:srgbClr val="8B98B0"/>
                </a:solidFill>
                <a:latin typeface="Calibri" pitchFamily="34" charset="0"/>
                <a:ea typeface="Calibri" pitchFamily="34" charset="-122"/>
                <a:cs typeface="Calibri" pitchFamily="34" charset="-120"/>
              </a:rPr>
              <a:t>Direct dependency (hop 1)</a:t>
            </a:r>
            <a:endParaRPr lang="en-US" sz="1000" dirty="0"/>
          </a:p>
        </p:txBody>
      </p:sp>
      <p:sp>
        <p:nvSpPr>
          <p:cNvPr id="37" name="Shape 28"/>
          <p:cNvSpPr/>
          <p:nvPr/>
        </p:nvSpPr>
        <p:spPr>
          <a:xfrm>
            <a:off x="7498080" y="1828800"/>
            <a:ext cx="566928" cy="566928"/>
          </a:xfrm>
          <a:prstGeom prst="ellipse">
            <a:avLst/>
          </a:prstGeom>
          <a:solidFill>
            <a:srgbClr val="0A3D2C"/>
          </a:solidFill>
          <a:ln/>
        </p:spPr>
      </p:sp>
      <p:pic>
        <p:nvPicPr>
          <p:cNvPr id="38" name="Image 7" descr="preencoded.png">    </p:cNvPr>
          <p:cNvPicPr>
            <a:picLocks noChangeAspect="1"/>
          </p:cNvPicPr>
          <p:nvPr/>
        </p:nvPicPr>
        <p:blipFill>
          <a:blip r:embed="rId8"/>
          <a:stretch>
            <a:fillRect/>
          </a:stretch>
        </p:blipFill>
        <p:spPr>
          <a:xfrm>
            <a:off x="7639812" y="1970532"/>
            <a:ext cx="283464" cy="283464"/>
          </a:xfrm>
          <a:prstGeom prst="rect">
            <a:avLst/>
          </a:prstGeom>
        </p:spPr>
      </p:pic>
      <p:sp>
        <p:nvSpPr>
          <p:cNvPr id="39" name="Text 29"/>
          <p:cNvSpPr/>
          <p:nvPr/>
        </p:nvSpPr>
        <p:spPr>
          <a:xfrm>
            <a:off x="8229600" y="1810512"/>
            <a:ext cx="3429000" cy="320040"/>
          </a:xfrm>
          <a:prstGeom prst="rect">
            <a:avLst/>
          </a:prstGeom>
          <a:noFill/>
          <a:ln/>
        </p:spPr>
        <p:txBody>
          <a:bodyPr wrap="square" lIns="0" tIns="0" rIns="0" bIns="0" rtlCol="0" anchor="ctr"/>
          <a:lstStyle/>
          <a:p>
            <a:pPr indent="0" marL="0">
              <a:buNone/>
            </a:pPr>
            <a:r>
              <a:rPr lang="en-US" sz="1550" b="1" dirty="0">
                <a:solidFill>
                  <a:srgbClr val="F5F7FA"/>
                </a:solidFill>
                <a:latin typeface="Cambria" pitchFamily="34" charset="0"/>
                <a:ea typeface="Cambria" pitchFamily="34" charset="-122"/>
                <a:cs typeface="Cambria" pitchFamily="34" charset="-120"/>
              </a:rPr>
              <a:t>The Problem</a:t>
            </a:r>
            <a:endParaRPr lang="en-US" sz="1550" dirty="0"/>
          </a:p>
        </p:txBody>
      </p:sp>
      <p:sp>
        <p:nvSpPr>
          <p:cNvPr id="40" name="Text 30"/>
          <p:cNvSpPr/>
          <p:nvPr/>
        </p:nvSpPr>
        <p:spPr>
          <a:xfrm>
            <a:off x="8229600" y="2157984"/>
            <a:ext cx="3429000" cy="914400"/>
          </a:xfrm>
          <a:prstGeom prst="rect">
            <a:avLst/>
          </a:prstGeom>
          <a:noFill/>
          <a:ln/>
        </p:spPr>
        <p:txBody>
          <a:bodyPr wrap="square" lIns="0" tIns="0" rIns="0" bIns="0" rtlCol="0" anchor="ctr"/>
          <a:lstStyle/>
          <a:p>
            <a:pPr indent="0" marL="0">
              <a:lnSpc>
                <a:spcPct val="115000"/>
              </a:lnSpc>
              <a:buNone/>
            </a:pPr>
            <a:r>
              <a:rPr lang="en-US" sz="1150" dirty="0">
                <a:solidFill>
                  <a:srgbClr val="8B98B0"/>
                </a:solidFill>
                <a:latin typeface="Calibri" pitchFamily="34" charset="0"/>
                <a:ea typeface="Calibri" pitchFamily="34" charset="-122"/>
                <a:cs typeface="Calibri" pitchFamily="34" charset="-120"/>
              </a:rPr>
              <a:t>AI often proposes fixes without understanding cascading impact on dependent services.</a:t>
            </a:r>
            <a:endParaRPr lang="en-US" sz="1150" dirty="0"/>
          </a:p>
        </p:txBody>
      </p:sp>
      <p:sp>
        <p:nvSpPr>
          <p:cNvPr id="41" name="Shape 31"/>
          <p:cNvSpPr/>
          <p:nvPr/>
        </p:nvSpPr>
        <p:spPr>
          <a:xfrm>
            <a:off x="7498080" y="3200400"/>
            <a:ext cx="566928" cy="566928"/>
          </a:xfrm>
          <a:prstGeom prst="ellipse">
            <a:avLst/>
          </a:prstGeom>
          <a:solidFill>
            <a:srgbClr val="0A3D2C"/>
          </a:solidFill>
          <a:ln/>
        </p:spPr>
      </p:sp>
      <p:pic>
        <p:nvPicPr>
          <p:cNvPr id="42" name="Image 8" descr="preencoded.png">    </p:cNvPr>
          <p:cNvPicPr>
            <a:picLocks noChangeAspect="1"/>
          </p:cNvPicPr>
          <p:nvPr/>
        </p:nvPicPr>
        <p:blipFill>
          <a:blip r:embed="rId9"/>
          <a:stretch>
            <a:fillRect/>
          </a:stretch>
        </p:blipFill>
        <p:spPr>
          <a:xfrm>
            <a:off x="7639812" y="3342132"/>
            <a:ext cx="283464" cy="283464"/>
          </a:xfrm>
          <a:prstGeom prst="rect">
            <a:avLst/>
          </a:prstGeom>
        </p:spPr>
      </p:pic>
      <p:sp>
        <p:nvSpPr>
          <p:cNvPr id="43" name="Text 32"/>
          <p:cNvSpPr/>
          <p:nvPr/>
        </p:nvSpPr>
        <p:spPr>
          <a:xfrm>
            <a:off x="8229600" y="3182112"/>
            <a:ext cx="3429000" cy="320040"/>
          </a:xfrm>
          <a:prstGeom prst="rect">
            <a:avLst/>
          </a:prstGeom>
          <a:noFill/>
          <a:ln/>
        </p:spPr>
        <p:txBody>
          <a:bodyPr wrap="square" lIns="0" tIns="0" rIns="0" bIns="0" rtlCol="0" anchor="ctr"/>
          <a:lstStyle/>
          <a:p>
            <a:pPr indent="0" marL="0">
              <a:buNone/>
            </a:pPr>
            <a:r>
              <a:rPr lang="en-US" sz="1550" b="1" dirty="0">
                <a:solidFill>
                  <a:srgbClr val="F5F7FA"/>
                </a:solidFill>
                <a:latin typeface="Cambria" pitchFamily="34" charset="0"/>
                <a:ea typeface="Cambria" pitchFamily="34" charset="-122"/>
                <a:cs typeface="Cambria" pitchFamily="34" charset="-120"/>
              </a:rPr>
              <a:t>Our Feature</a:t>
            </a:r>
            <a:endParaRPr lang="en-US" sz="1550" dirty="0"/>
          </a:p>
        </p:txBody>
      </p:sp>
      <p:sp>
        <p:nvSpPr>
          <p:cNvPr id="44" name="Text 33"/>
          <p:cNvSpPr/>
          <p:nvPr/>
        </p:nvSpPr>
        <p:spPr>
          <a:xfrm>
            <a:off x="8229600" y="3529584"/>
            <a:ext cx="3429000" cy="914400"/>
          </a:xfrm>
          <a:prstGeom prst="rect">
            <a:avLst/>
          </a:prstGeom>
          <a:noFill/>
          <a:ln/>
        </p:spPr>
        <p:txBody>
          <a:bodyPr wrap="square" lIns="0" tIns="0" rIns="0" bIns="0" rtlCol="0" anchor="ctr"/>
          <a:lstStyle/>
          <a:p>
            <a:pPr indent="0" marL="0">
              <a:lnSpc>
                <a:spcPct val="115000"/>
              </a:lnSpc>
              <a:buNone/>
            </a:pPr>
            <a:r>
              <a:rPr lang="en-US" sz="1150" dirty="0">
                <a:solidFill>
                  <a:srgbClr val="8B98B0"/>
                </a:solidFill>
                <a:latin typeface="Calibri" pitchFamily="34" charset="0"/>
                <a:ea typeface="Calibri" pitchFamily="34" charset="-122"/>
                <a:cs typeface="Calibri" pitchFamily="34" charset="-120"/>
              </a:rPr>
              <a:t>Integrated BFS dependency mapping across infrastructure/current-state.</a:t>
            </a:r>
            <a:endParaRPr lang="en-US" sz="1150" dirty="0"/>
          </a:p>
        </p:txBody>
      </p:sp>
      <p:sp>
        <p:nvSpPr>
          <p:cNvPr id="45" name="Shape 34"/>
          <p:cNvSpPr/>
          <p:nvPr/>
        </p:nvSpPr>
        <p:spPr>
          <a:xfrm>
            <a:off x="7498080" y="4572000"/>
            <a:ext cx="566928" cy="566928"/>
          </a:xfrm>
          <a:prstGeom prst="ellipse">
            <a:avLst/>
          </a:prstGeom>
          <a:solidFill>
            <a:srgbClr val="0A3D2C"/>
          </a:solidFill>
          <a:ln/>
        </p:spPr>
      </p:sp>
      <p:pic>
        <p:nvPicPr>
          <p:cNvPr id="46" name="Image 9" descr="preencoded.png">    </p:cNvPr>
          <p:cNvPicPr>
            <a:picLocks noChangeAspect="1"/>
          </p:cNvPicPr>
          <p:nvPr/>
        </p:nvPicPr>
        <p:blipFill>
          <a:blip r:embed="rId10"/>
          <a:stretch>
            <a:fillRect/>
          </a:stretch>
        </p:blipFill>
        <p:spPr>
          <a:xfrm>
            <a:off x="7639812" y="4713732"/>
            <a:ext cx="283464" cy="283464"/>
          </a:xfrm>
          <a:prstGeom prst="rect">
            <a:avLst/>
          </a:prstGeom>
        </p:spPr>
      </p:pic>
      <p:sp>
        <p:nvSpPr>
          <p:cNvPr id="47" name="Text 35"/>
          <p:cNvSpPr/>
          <p:nvPr/>
        </p:nvSpPr>
        <p:spPr>
          <a:xfrm>
            <a:off x="8229600" y="4553712"/>
            <a:ext cx="3429000" cy="320040"/>
          </a:xfrm>
          <a:prstGeom prst="rect">
            <a:avLst/>
          </a:prstGeom>
          <a:noFill/>
          <a:ln/>
        </p:spPr>
        <p:txBody>
          <a:bodyPr wrap="square" lIns="0" tIns="0" rIns="0" bIns="0" rtlCol="0" anchor="ctr"/>
          <a:lstStyle/>
          <a:p>
            <a:pPr indent="0" marL="0">
              <a:buNone/>
            </a:pPr>
            <a:r>
              <a:rPr lang="en-US" sz="1550" b="1" dirty="0">
                <a:solidFill>
                  <a:srgbClr val="F5F7FA"/>
                </a:solidFill>
                <a:latin typeface="Cambria" pitchFamily="34" charset="0"/>
                <a:ea typeface="Cambria" pitchFamily="34" charset="-122"/>
                <a:cs typeface="Cambria" pitchFamily="34" charset="-120"/>
              </a:rPr>
              <a:t>The Outcome</a:t>
            </a:r>
            <a:endParaRPr lang="en-US" sz="1550" dirty="0"/>
          </a:p>
        </p:txBody>
      </p:sp>
      <p:sp>
        <p:nvSpPr>
          <p:cNvPr id="48" name="Text 36"/>
          <p:cNvSpPr/>
          <p:nvPr/>
        </p:nvSpPr>
        <p:spPr>
          <a:xfrm>
            <a:off x="8229600" y="4901184"/>
            <a:ext cx="3429000" cy="914400"/>
          </a:xfrm>
          <a:prstGeom prst="rect">
            <a:avLst/>
          </a:prstGeom>
          <a:noFill/>
          <a:ln/>
        </p:spPr>
        <p:txBody>
          <a:bodyPr wrap="square" lIns="0" tIns="0" rIns="0" bIns="0" rtlCol="0" anchor="ctr"/>
          <a:lstStyle/>
          <a:p>
            <a:pPr indent="0" marL="0">
              <a:lnSpc>
                <a:spcPct val="115000"/>
              </a:lnSpc>
              <a:buNone/>
            </a:pPr>
            <a:r>
              <a:rPr lang="en-US" sz="1150" dirty="0">
                <a:solidFill>
                  <a:srgbClr val="8B98B0"/>
                </a:solidFill>
                <a:latin typeface="Calibri" pitchFamily="34" charset="0"/>
                <a:ea typeface="Calibri" pitchFamily="34" charset="-122"/>
                <a:cs typeface="Calibri" pitchFamily="34" charset="-120"/>
              </a:rPr>
              <a:t>The AI calculates the exact blast radius before requesting a rollback — full risk context for the human validator.</a:t>
            </a:r>
            <a:endParaRPr lang="en-US" sz="1150" dirty="0"/>
          </a:p>
        </p:txBody>
      </p:sp>
      <p:sp>
        <p:nvSpPr>
          <p:cNvPr id="49" name="Text 37"/>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50" name="Text 38"/>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SERVICE TOPOGRAPHY</a:t>
            </a:r>
            <a:endParaRPr lang="en-US" sz="900" dirty="0"/>
          </a:p>
        </p:txBody>
      </p:sp>
      <p:sp>
        <p:nvSpPr>
          <p:cNvPr id="51" name="Text 39"/>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05 / 07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00F5A0"/>
                </a:solidFill>
                <a:latin typeface="Courier New" pitchFamily="34" charset="0"/>
                <a:ea typeface="Courier New" pitchFamily="34" charset="-122"/>
                <a:cs typeface="Courier New" pitchFamily="34" charset="-120"/>
              </a:rPr>
              <a:t>THE DEMO SCENARIO</a:t>
            </a:r>
            <a:endParaRPr lang="en-US" sz="1200" dirty="0"/>
          </a:p>
        </p:txBody>
      </p:sp>
      <p:sp>
        <p:nvSpPr>
          <p:cNvPr id="3" name="Text 1"/>
          <p:cNvSpPr/>
          <p:nvPr/>
        </p:nvSpPr>
        <p:spPr>
          <a:xfrm>
            <a:off x="548640" y="786384"/>
            <a:ext cx="11064240" cy="685800"/>
          </a:xfrm>
          <a:prstGeom prst="rect">
            <a:avLst/>
          </a:prstGeom>
          <a:noFill/>
          <a:ln/>
        </p:spPr>
        <p:txBody>
          <a:bodyPr wrap="square" lIns="0" tIns="0" rIns="0" bIns="0" rtlCol="0" anchor="t"/>
          <a:lstStyle/>
          <a:p>
            <a:pPr algn="l" indent="0" marL="0">
              <a:buNone/>
            </a:pPr>
            <a:r>
              <a:rPr lang="en-US" sz="3000" b="1" dirty="0">
                <a:solidFill>
                  <a:srgbClr val="F5F7FA"/>
                </a:solidFill>
                <a:latin typeface="Cambria" pitchFamily="34" charset="0"/>
                <a:ea typeface="Cambria" pitchFamily="34" charset="-122"/>
                <a:cs typeface="Cambria" pitchFamily="34" charset="-120"/>
              </a:rPr>
              <a:t>Live Incident Remediation Demo</a:t>
            </a:r>
            <a:endParaRPr lang="en-US" sz="3000" dirty="0"/>
          </a:p>
        </p:txBody>
      </p:sp>
      <p:sp>
        <p:nvSpPr>
          <p:cNvPr id="4" name="Shape 2"/>
          <p:cNvSpPr/>
          <p:nvPr/>
        </p:nvSpPr>
        <p:spPr>
          <a:xfrm>
            <a:off x="548640" y="1783080"/>
            <a:ext cx="5394960" cy="2606040"/>
          </a:xfrm>
          <a:prstGeom prst="roundRect">
            <a:avLst>
              <a:gd name="adj" fmla="val 2807"/>
            </a:avLst>
          </a:prstGeom>
          <a:solidFill>
            <a:srgbClr val="0A0F1C"/>
          </a:solidFill>
          <a:ln w="12700">
            <a:solidFill>
              <a:srgbClr val="263352"/>
            </a:solidFill>
            <a:prstDash val="solid"/>
          </a:ln>
        </p:spPr>
      </p:sp>
      <p:sp>
        <p:nvSpPr>
          <p:cNvPr id="5" name="Shape 3"/>
          <p:cNvSpPr/>
          <p:nvPr/>
        </p:nvSpPr>
        <p:spPr>
          <a:xfrm>
            <a:off x="548640" y="1783080"/>
            <a:ext cx="5394960" cy="365760"/>
          </a:xfrm>
          <a:prstGeom prst="rect">
            <a:avLst/>
          </a:prstGeom>
          <a:solidFill>
            <a:srgbClr val="1B2740"/>
          </a:solidFill>
          <a:ln/>
        </p:spPr>
      </p:sp>
      <p:sp>
        <p:nvSpPr>
          <p:cNvPr id="6" name="Shape 4"/>
          <p:cNvSpPr/>
          <p:nvPr/>
        </p:nvSpPr>
        <p:spPr>
          <a:xfrm>
            <a:off x="713232" y="1901952"/>
            <a:ext cx="128016" cy="128016"/>
          </a:xfrm>
          <a:prstGeom prst="ellipse">
            <a:avLst/>
          </a:prstGeom>
          <a:solidFill>
            <a:srgbClr val="FF5C5C"/>
          </a:solidFill>
          <a:ln/>
        </p:spPr>
      </p:sp>
      <p:sp>
        <p:nvSpPr>
          <p:cNvPr id="7" name="Shape 5"/>
          <p:cNvSpPr/>
          <p:nvPr/>
        </p:nvSpPr>
        <p:spPr>
          <a:xfrm>
            <a:off x="932688" y="1901952"/>
            <a:ext cx="128016" cy="128016"/>
          </a:xfrm>
          <a:prstGeom prst="ellipse">
            <a:avLst/>
          </a:prstGeom>
          <a:solidFill>
            <a:srgbClr val="F2C94C"/>
          </a:solidFill>
          <a:ln/>
        </p:spPr>
      </p:sp>
      <p:sp>
        <p:nvSpPr>
          <p:cNvPr id="8" name="Shape 6"/>
          <p:cNvSpPr/>
          <p:nvPr/>
        </p:nvSpPr>
        <p:spPr>
          <a:xfrm>
            <a:off x="1152144" y="1901952"/>
            <a:ext cx="128016" cy="128016"/>
          </a:xfrm>
          <a:prstGeom prst="ellipse">
            <a:avLst/>
          </a:prstGeom>
          <a:solidFill>
            <a:srgbClr val="00F5A0"/>
          </a:solidFill>
          <a:ln/>
        </p:spPr>
      </p:sp>
      <p:sp>
        <p:nvSpPr>
          <p:cNvPr id="9" name="Text 7"/>
          <p:cNvSpPr/>
          <p:nvPr/>
        </p:nvSpPr>
        <p:spPr>
          <a:xfrm>
            <a:off x="1554480" y="1828800"/>
            <a:ext cx="4206240" cy="274320"/>
          </a:xfrm>
          <a:prstGeom prst="rect">
            <a:avLst/>
          </a:prstGeom>
          <a:noFill/>
          <a:ln/>
        </p:spPr>
        <p:txBody>
          <a:bodyPr wrap="square" lIns="0" tIns="0" rIns="0" bIns="0" rtlCol="0" anchor="ctr"/>
          <a:lstStyle/>
          <a:p>
            <a:pPr indent="0" marL="0">
              <a:buNone/>
            </a:pPr>
            <a:r>
              <a:rPr lang="en-US" sz="1000" dirty="0">
                <a:solidFill>
                  <a:srgbClr val="8B98B0"/>
                </a:solidFill>
                <a:latin typeface="Courier New" pitchFamily="34" charset="0"/>
                <a:ea typeface="Courier New" pitchFamily="34" charset="-122"/>
                <a:cs typeface="Courier New" pitchFamily="34" charset="-120"/>
              </a:rPr>
              <a:t>ai-agent — pending-approval.log</a:t>
            </a:r>
            <a:endParaRPr lang="en-US" sz="1000" dirty="0"/>
          </a:p>
        </p:txBody>
      </p:sp>
      <p:sp>
        <p:nvSpPr>
          <p:cNvPr id="10" name="Text 8"/>
          <p:cNvSpPr/>
          <p:nvPr/>
        </p:nvSpPr>
        <p:spPr>
          <a:xfrm>
            <a:off x="804672" y="2313432"/>
            <a:ext cx="4882896" cy="237744"/>
          </a:xfrm>
          <a:prstGeom prst="rect">
            <a:avLst/>
          </a:prstGeom>
          <a:noFill/>
          <a:ln/>
        </p:spPr>
        <p:txBody>
          <a:bodyPr wrap="square" lIns="0" tIns="0" rIns="0" bIns="0" rtlCol="0" anchor="ctr"/>
          <a:lstStyle/>
          <a:p>
            <a:pPr indent="0" marL="0">
              <a:buNone/>
            </a:pPr>
            <a:r>
              <a:rPr lang="en-US" sz="1050" dirty="0">
                <a:solidFill>
                  <a:srgbClr val="8B98B0"/>
                </a:solidFill>
                <a:latin typeface="Courier New" pitchFamily="34" charset="0"/>
                <a:ea typeface="Courier New" pitchFamily="34" charset="-122"/>
                <a:cs typeface="Courier New" pitchFamily="34" charset="-120"/>
              </a:rPr>
              <a:t>$ scan --logs broken-app.js</a:t>
            </a:r>
            <a:endParaRPr lang="en-US" sz="1050" dirty="0"/>
          </a:p>
        </p:txBody>
      </p:sp>
      <p:sp>
        <p:nvSpPr>
          <p:cNvPr id="11" name="Text 9"/>
          <p:cNvSpPr/>
          <p:nvPr/>
        </p:nvSpPr>
        <p:spPr>
          <a:xfrm>
            <a:off x="804672" y="2564892"/>
            <a:ext cx="4882896" cy="237744"/>
          </a:xfrm>
          <a:prstGeom prst="rect">
            <a:avLst/>
          </a:prstGeom>
          <a:noFill/>
          <a:ln/>
        </p:spPr>
        <p:txBody>
          <a:bodyPr wrap="square" lIns="0" tIns="0" rIns="0" bIns="0" rtlCol="0" anchor="ctr"/>
          <a:lstStyle/>
          <a:p>
            <a:pPr indent="0" marL="0">
              <a:buNone/>
            </a:pPr>
            <a:r>
              <a:rPr lang="en-US" sz="1050" dirty="0">
                <a:solidFill>
                  <a:srgbClr val="FF5C5C"/>
                </a:solidFill>
                <a:latin typeface="Courier New" pitchFamily="34" charset="0"/>
                <a:ea typeface="Courier New" pitchFamily="34" charset="-122"/>
                <a:cs typeface="Courier New" pitchFamily="34" charset="-120"/>
              </a:rPr>
              <a:t>TypeError: Cannot read properties</a:t>
            </a:r>
            <a:endParaRPr lang="en-US" sz="1050" dirty="0"/>
          </a:p>
        </p:txBody>
      </p:sp>
      <p:sp>
        <p:nvSpPr>
          <p:cNvPr id="12" name="Text 10"/>
          <p:cNvSpPr/>
          <p:nvPr/>
        </p:nvSpPr>
        <p:spPr>
          <a:xfrm>
            <a:off x="804672" y="2816352"/>
            <a:ext cx="4882896" cy="237744"/>
          </a:xfrm>
          <a:prstGeom prst="rect">
            <a:avLst/>
          </a:prstGeom>
          <a:noFill/>
          <a:ln/>
        </p:spPr>
        <p:txBody>
          <a:bodyPr wrap="square" lIns="0" tIns="0" rIns="0" bIns="0" rtlCol="0" anchor="ctr"/>
          <a:lstStyle/>
          <a:p>
            <a:pPr indent="0" marL="0">
              <a:buNone/>
            </a:pPr>
            <a:r>
              <a:rPr lang="en-US" sz="1050" dirty="0">
                <a:solidFill>
                  <a:srgbClr val="FF5C5C"/>
                </a:solidFill>
                <a:latin typeface="Courier New" pitchFamily="34" charset="0"/>
                <a:ea typeface="Courier New" pitchFamily="34" charset="-122"/>
                <a:cs typeface="Courier New" pitchFamily="34" charset="-120"/>
              </a:rPr>
              <a:t>  of null (reading 'query')</a:t>
            </a:r>
            <a:endParaRPr lang="en-US" sz="1050" dirty="0"/>
          </a:p>
        </p:txBody>
      </p:sp>
      <p:sp>
        <p:nvSpPr>
          <p:cNvPr id="13" name="Text 11"/>
          <p:cNvSpPr/>
          <p:nvPr/>
        </p:nvSpPr>
        <p:spPr>
          <a:xfrm>
            <a:off x="804672" y="3067812"/>
            <a:ext cx="4882896" cy="237744"/>
          </a:xfrm>
          <a:prstGeom prst="rect">
            <a:avLst/>
          </a:prstGeom>
          <a:noFill/>
          <a:ln/>
        </p:spPr>
        <p:txBody>
          <a:bodyPr wrap="square" lIns="0" tIns="0" rIns="0" bIns="0" rtlCol="0" anchor="ctr"/>
          <a:lstStyle/>
          <a:p>
            <a:pPr indent="0" marL="0">
              <a:buNone/>
            </a:pPr>
            <a:r>
              <a:rPr lang="en-US" sz="1050" dirty="0">
                <a:solidFill>
                  <a:srgbClr val="8B98B0"/>
                </a:solidFill>
                <a:latin typeface="Courier New" pitchFamily="34" charset="0"/>
                <a:ea typeface="Courier New" pitchFamily="34" charset="-122"/>
                <a:cs typeface="Courier New" pitchFamily="34" charset="-120"/>
              </a:rPr>
              <a:t>$ git-diff --trace-break</a:t>
            </a:r>
            <a:endParaRPr lang="en-US" sz="1050" dirty="0"/>
          </a:p>
        </p:txBody>
      </p:sp>
      <p:sp>
        <p:nvSpPr>
          <p:cNvPr id="14" name="Text 12"/>
          <p:cNvSpPr/>
          <p:nvPr/>
        </p:nvSpPr>
        <p:spPr>
          <a:xfrm>
            <a:off x="804672" y="3319272"/>
            <a:ext cx="4882896" cy="237744"/>
          </a:xfrm>
          <a:prstGeom prst="rect">
            <a:avLst/>
          </a:prstGeom>
          <a:noFill/>
          <a:ln/>
        </p:spPr>
        <p:txBody>
          <a:bodyPr wrap="square" lIns="0" tIns="0" rIns="0" bIns="0" rtlCol="0" anchor="ctr"/>
          <a:lstStyle/>
          <a:p>
            <a:pPr indent="0" marL="0">
              <a:buNone/>
            </a:pPr>
            <a:r>
              <a:rPr lang="en-US" sz="1050" dirty="0">
                <a:solidFill>
                  <a:srgbClr val="22D3EE"/>
                </a:solidFill>
                <a:latin typeface="Courier New" pitchFamily="34" charset="0"/>
                <a:ea typeface="Courier New" pitchFamily="34" charset="-122"/>
                <a:cs typeface="Courier New" pitchFamily="34" charset="-120"/>
              </a:rPr>
              <a:t>&gt; breaking commit: a3f9c1e</a:t>
            </a:r>
            <a:endParaRPr lang="en-US" sz="1050" dirty="0"/>
          </a:p>
        </p:txBody>
      </p:sp>
      <p:sp>
        <p:nvSpPr>
          <p:cNvPr id="15" name="Text 13"/>
          <p:cNvSpPr/>
          <p:nvPr/>
        </p:nvSpPr>
        <p:spPr>
          <a:xfrm>
            <a:off x="804672" y="3570732"/>
            <a:ext cx="4882896" cy="237744"/>
          </a:xfrm>
          <a:prstGeom prst="rect">
            <a:avLst/>
          </a:prstGeom>
          <a:noFill/>
          <a:ln/>
        </p:spPr>
        <p:txBody>
          <a:bodyPr wrap="square" lIns="0" tIns="0" rIns="0" bIns="0" rtlCol="0" anchor="ctr"/>
          <a:lstStyle/>
          <a:p>
            <a:pPr indent="0" marL="0">
              <a:buNone/>
            </a:pPr>
            <a:r>
              <a:rPr lang="en-US" sz="1050" dirty="0">
                <a:solidFill>
                  <a:srgbClr val="F5F7FA"/>
                </a:solidFill>
                <a:latin typeface="Courier New" pitchFamily="34" charset="0"/>
                <a:ea typeface="Courier New" pitchFamily="34" charset="-122"/>
                <a:cs typeface="Courier New" pitchFamily="34" charset="-120"/>
              </a:rPr>
              <a:t>$ execute_rollback(a3f9c1e)</a:t>
            </a:r>
            <a:endParaRPr lang="en-US" sz="1050" dirty="0"/>
          </a:p>
        </p:txBody>
      </p:sp>
      <p:sp>
        <p:nvSpPr>
          <p:cNvPr id="16" name="Text 14"/>
          <p:cNvSpPr/>
          <p:nvPr/>
        </p:nvSpPr>
        <p:spPr>
          <a:xfrm>
            <a:off x="804672" y="3822192"/>
            <a:ext cx="4882896" cy="237744"/>
          </a:xfrm>
          <a:prstGeom prst="rect">
            <a:avLst/>
          </a:prstGeom>
          <a:noFill/>
          <a:ln/>
        </p:spPr>
        <p:txBody>
          <a:bodyPr wrap="square" lIns="0" tIns="0" rIns="0" bIns="0" rtlCol="0" anchor="ctr"/>
          <a:lstStyle/>
          <a:p>
            <a:pPr indent="0" marL="0">
              <a:buNone/>
            </a:pPr>
            <a:r>
              <a:rPr lang="en-US" sz="1050" dirty="0">
                <a:solidFill>
                  <a:srgbClr val="00F5A0"/>
                </a:solidFill>
                <a:latin typeface="Courier New" pitchFamily="34" charset="0"/>
                <a:ea typeface="Courier New" pitchFamily="34" charset="-122"/>
                <a:cs typeface="Courier New" pitchFamily="34" charset="-120"/>
              </a:rPr>
              <a:t>&gt; STATUS: PENDING_APPROVAL</a:t>
            </a:r>
            <a:endParaRPr lang="en-US" sz="1050" dirty="0"/>
          </a:p>
        </p:txBody>
      </p:sp>
      <p:sp>
        <p:nvSpPr>
          <p:cNvPr id="17" name="Text 15"/>
          <p:cNvSpPr/>
          <p:nvPr/>
        </p:nvSpPr>
        <p:spPr>
          <a:xfrm>
            <a:off x="804672" y="4073652"/>
            <a:ext cx="4882896" cy="237744"/>
          </a:xfrm>
          <a:prstGeom prst="rect">
            <a:avLst/>
          </a:prstGeom>
          <a:noFill/>
          <a:ln/>
        </p:spPr>
        <p:txBody>
          <a:bodyPr wrap="square" lIns="0" tIns="0" rIns="0" bIns="0" rtlCol="0" anchor="ctr"/>
          <a:lstStyle/>
          <a:p>
            <a:pPr indent="0" marL="0">
              <a:buNone/>
            </a:pPr>
            <a:r>
              <a:rPr lang="en-US" sz="1050" dirty="0">
                <a:solidFill>
                  <a:srgbClr val="8B98B0"/>
                </a:solidFill>
                <a:latin typeface="Courier New" pitchFamily="34" charset="0"/>
                <a:ea typeface="Courier New" pitchFamily="34" charset="-122"/>
                <a:cs typeface="Courier New" pitchFamily="34" charset="-120"/>
              </a:rPr>
              <a:t>&gt; uuid: 7e2a-91b4-...  awaiting sign-off</a:t>
            </a:r>
            <a:endParaRPr lang="en-US" sz="1050" dirty="0"/>
          </a:p>
        </p:txBody>
      </p:sp>
      <p:sp>
        <p:nvSpPr>
          <p:cNvPr id="18" name="Shape 16"/>
          <p:cNvSpPr/>
          <p:nvPr/>
        </p:nvSpPr>
        <p:spPr>
          <a:xfrm>
            <a:off x="6263640" y="1783080"/>
            <a:ext cx="5394960" cy="2606040"/>
          </a:xfrm>
          <a:prstGeom prst="roundRect">
            <a:avLst>
              <a:gd name="adj" fmla="val 2807"/>
            </a:avLst>
          </a:prstGeom>
          <a:solidFill>
            <a:srgbClr val="0A0F1C"/>
          </a:solidFill>
          <a:ln w="16510">
            <a:solidFill>
              <a:srgbClr val="00F5A0"/>
            </a:solidFill>
            <a:prstDash val="solid"/>
          </a:ln>
        </p:spPr>
      </p:sp>
      <p:sp>
        <p:nvSpPr>
          <p:cNvPr id="19" name="Shape 17"/>
          <p:cNvSpPr/>
          <p:nvPr/>
        </p:nvSpPr>
        <p:spPr>
          <a:xfrm>
            <a:off x="6263640" y="1783080"/>
            <a:ext cx="5394960" cy="365760"/>
          </a:xfrm>
          <a:prstGeom prst="rect">
            <a:avLst/>
          </a:prstGeom>
          <a:solidFill>
            <a:srgbClr val="1B2740"/>
          </a:solidFill>
          <a:ln/>
        </p:spPr>
      </p:sp>
      <p:sp>
        <p:nvSpPr>
          <p:cNvPr id="20" name="Shape 18"/>
          <p:cNvSpPr/>
          <p:nvPr/>
        </p:nvSpPr>
        <p:spPr>
          <a:xfrm>
            <a:off x="6428232" y="1901952"/>
            <a:ext cx="128016" cy="128016"/>
          </a:xfrm>
          <a:prstGeom prst="ellipse">
            <a:avLst/>
          </a:prstGeom>
          <a:solidFill>
            <a:srgbClr val="FF5C5C"/>
          </a:solidFill>
          <a:ln/>
        </p:spPr>
      </p:sp>
      <p:sp>
        <p:nvSpPr>
          <p:cNvPr id="21" name="Shape 19"/>
          <p:cNvSpPr/>
          <p:nvPr/>
        </p:nvSpPr>
        <p:spPr>
          <a:xfrm>
            <a:off x="6647688" y="1901952"/>
            <a:ext cx="128016" cy="128016"/>
          </a:xfrm>
          <a:prstGeom prst="ellipse">
            <a:avLst/>
          </a:prstGeom>
          <a:solidFill>
            <a:srgbClr val="F2C94C"/>
          </a:solidFill>
          <a:ln/>
        </p:spPr>
      </p:sp>
      <p:sp>
        <p:nvSpPr>
          <p:cNvPr id="22" name="Shape 20"/>
          <p:cNvSpPr/>
          <p:nvPr/>
        </p:nvSpPr>
        <p:spPr>
          <a:xfrm>
            <a:off x="6867144" y="1901952"/>
            <a:ext cx="128016" cy="128016"/>
          </a:xfrm>
          <a:prstGeom prst="ellipse">
            <a:avLst/>
          </a:prstGeom>
          <a:solidFill>
            <a:srgbClr val="00F5A0"/>
          </a:solidFill>
          <a:ln/>
        </p:spPr>
      </p:sp>
      <p:sp>
        <p:nvSpPr>
          <p:cNvPr id="23" name="Text 21"/>
          <p:cNvSpPr/>
          <p:nvPr/>
        </p:nvSpPr>
        <p:spPr>
          <a:xfrm>
            <a:off x="7269480" y="1828800"/>
            <a:ext cx="4206240" cy="274320"/>
          </a:xfrm>
          <a:prstGeom prst="rect">
            <a:avLst/>
          </a:prstGeom>
          <a:noFill/>
          <a:ln/>
        </p:spPr>
        <p:txBody>
          <a:bodyPr wrap="square" lIns="0" tIns="0" rIns="0" bIns="0" rtlCol="0" anchor="ctr"/>
          <a:lstStyle/>
          <a:p>
            <a:pPr indent="0" marL="0">
              <a:buNone/>
            </a:pPr>
            <a:r>
              <a:rPr lang="en-US" sz="1000" dirty="0">
                <a:solidFill>
                  <a:srgbClr val="8B98B0"/>
                </a:solidFill>
                <a:latin typeface="Courier New" pitchFamily="34" charset="0"/>
                <a:ea typeface="Courier New" pitchFamily="34" charset="-122"/>
                <a:cs typeface="Courier New" pitchFamily="34" charset="-120"/>
              </a:rPr>
              <a:t>human-operator — sign-off shell</a:t>
            </a:r>
            <a:endParaRPr lang="en-US" sz="1000" dirty="0"/>
          </a:p>
        </p:txBody>
      </p:sp>
      <p:sp>
        <p:nvSpPr>
          <p:cNvPr id="24" name="Text 22"/>
          <p:cNvSpPr/>
          <p:nvPr/>
        </p:nvSpPr>
        <p:spPr>
          <a:xfrm>
            <a:off x="6519672" y="2313432"/>
            <a:ext cx="4882896" cy="237744"/>
          </a:xfrm>
          <a:prstGeom prst="rect">
            <a:avLst/>
          </a:prstGeom>
          <a:noFill/>
          <a:ln/>
        </p:spPr>
        <p:txBody>
          <a:bodyPr wrap="square" lIns="0" tIns="0" rIns="0" bIns="0" rtlCol="0" anchor="ctr"/>
          <a:lstStyle/>
          <a:p>
            <a:pPr indent="0" marL="0">
              <a:buNone/>
            </a:pPr>
            <a:r>
              <a:rPr lang="en-US" sz="1050" dirty="0">
                <a:solidFill>
                  <a:srgbClr val="F5F7FA"/>
                </a:solidFill>
                <a:latin typeface="Courier New" pitchFamily="34" charset="0"/>
                <a:ea typeface="Courier New" pitchFamily="34" charset="-122"/>
                <a:cs typeface="Courier New" pitchFamily="34" charset="-120"/>
              </a:rPr>
              <a:t>$ npm run approve 7e2a-91b4</a:t>
            </a:r>
            <a:endParaRPr lang="en-US" sz="1050" dirty="0"/>
          </a:p>
        </p:txBody>
      </p:sp>
      <p:sp>
        <p:nvSpPr>
          <p:cNvPr id="25" name="Text 23"/>
          <p:cNvSpPr/>
          <p:nvPr/>
        </p:nvSpPr>
        <p:spPr>
          <a:xfrm>
            <a:off x="6519672" y="2564892"/>
            <a:ext cx="4882896" cy="237744"/>
          </a:xfrm>
          <a:prstGeom prst="rect">
            <a:avLst/>
          </a:prstGeom>
          <a:noFill/>
          <a:ln/>
        </p:spPr>
        <p:txBody>
          <a:bodyPr wrap="square" lIns="0" tIns="0" rIns="0" bIns="0" rtlCol="0" anchor="ctr"/>
          <a:lstStyle/>
          <a:p>
            <a:pPr indent="0" marL="0">
              <a:buNone/>
            </a:pPr>
            <a:r>
              <a:rPr lang="en-US" sz="1050" dirty="0">
                <a:solidFill>
                  <a:srgbClr val="8B98B0"/>
                </a:solidFill>
                <a:latin typeface="Courier New" pitchFamily="34" charset="0"/>
                <a:ea typeface="Courier New" pitchFamily="34" charset="-122"/>
                <a:cs typeface="Courier New" pitchFamily="34" charset="-120"/>
              </a:rPr>
              <a:t>&gt; verifying blast radius...</a:t>
            </a:r>
            <a:endParaRPr lang="en-US" sz="1050" dirty="0"/>
          </a:p>
        </p:txBody>
      </p:sp>
      <p:sp>
        <p:nvSpPr>
          <p:cNvPr id="26" name="Text 24"/>
          <p:cNvSpPr/>
          <p:nvPr/>
        </p:nvSpPr>
        <p:spPr>
          <a:xfrm>
            <a:off x="6519672" y="2816352"/>
            <a:ext cx="4882896" cy="237744"/>
          </a:xfrm>
          <a:prstGeom prst="rect">
            <a:avLst/>
          </a:prstGeom>
          <a:noFill/>
          <a:ln/>
        </p:spPr>
        <p:txBody>
          <a:bodyPr wrap="square" lIns="0" tIns="0" rIns="0" bIns="0" rtlCol="0" anchor="ctr"/>
          <a:lstStyle/>
          <a:p>
            <a:pPr indent="0" marL="0">
              <a:buNone/>
            </a:pPr>
            <a:r>
              <a:rPr lang="en-US" sz="1050" dirty="0">
                <a:solidFill>
                  <a:srgbClr val="22D3EE"/>
                </a:solidFill>
                <a:latin typeface="Courier New" pitchFamily="34" charset="0"/>
                <a:ea typeface="Courier New" pitchFamily="34" charset="-122"/>
                <a:cs typeface="Courier New" pitchFamily="34" charset="-120"/>
              </a:rPr>
              <a:t>&gt; 3 dependent services in scope</a:t>
            </a:r>
            <a:endParaRPr lang="en-US" sz="1050" dirty="0"/>
          </a:p>
        </p:txBody>
      </p:sp>
      <p:sp>
        <p:nvSpPr>
          <p:cNvPr id="27" name="Text 25"/>
          <p:cNvSpPr/>
          <p:nvPr/>
        </p:nvSpPr>
        <p:spPr>
          <a:xfrm>
            <a:off x="6519672" y="3067812"/>
            <a:ext cx="4882896" cy="237744"/>
          </a:xfrm>
          <a:prstGeom prst="rect">
            <a:avLst/>
          </a:prstGeom>
          <a:noFill/>
          <a:ln/>
        </p:spPr>
        <p:txBody>
          <a:bodyPr wrap="square" lIns="0" tIns="0" rIns="0" bIns="0" rtlCol="0" anchor="ctr"/>
          <a:lstStyle/>
          <a:p>
            <a:pPr indent="0" marL="0">
              <a:buNone/>
            </a:pPr>
            <a:r>
              <a:rPr lang="en-US" sz="1050" dirty="0">
                <a:solidFill>
                  <a:srgbClr val="8B98B0"/>
                </a:solidFill>
                <a:latin typeface="Courier New" pitchFamily="34" charset="0"/>
                <a:ea typeface="Courier New" pitchFamily="34" charset="-122"/>
                <a:cs typeface="Courier New" pitchFamily="34" charset="-120"/>
              </a:rPr>
              <a:t>&gt; signing JWT with operator key</a:t>
            </a:r>
            <a:endParaRPr lang="en-US" sz="1050" dirty="0"/>
          </a:p>
        </p:txBody>
      </p:sp>
      <p:sp>
        <p:nvSpPr>
          <p:cNvPr id="28" name="Text 26"/>
          <p:cNvSpPr/>
          <p:nvPr/>
        </p:nvSpPr>
        <p:spPr>
          <a:xfrm>
            <a:off x="6519672" y="3319272"/>
            <a:ext cx="4882896" cy="237744"/>
          </a:xfrm>
          <a:prstGeom prst="rect">
            <a:avLst/>
          </a:prstGeom>
          <a:noFill/>
          <a:ln/>
        </p:spPr>
        <p:txBody>
          <a:bodyPr wrap="square" lIns="0" tIns="0" rIns="0" bIns="0" rtlCol="0" anchor="ctr"/>
          <a:lstStyle/>
          <a:p>
            <a:pPr indent="0" marL="0">
              <a:buNone/>
            </a:pPr>
            <a:r>
              <a:rPr lang="en-US" sz="1050" dirty="0">
                <a:solidFill>
                  <a:srgbClr val="00F5A0"/>
                </a:solidFill>
                <a:latin typeface="Courier New" pitchFamily="34" charset="0"/>
                <a:ea typeface="Courier New" pitchFamily="34" charset="-122"/>
                <a:cs typeface="Courier New" pitchFamily="34" charset="-120"/>
              </a:rPr>
              <a:t>&gt; JWT valid  |  txn bound  |  ttl 120s</a:t>
            </a:r>
            <a:endParaRPr lang="en-US" sz="1050" dirty="0"/>
          </a:p>
        </p:txBody>
      </p:sp>
      <p:sp>
        <p:nvSpPr>
          <p:cNvPr id="29" name="Text 27"/>
          <p:cNvSpPr/>
          <p:nvPr/>
        </p:nvSpPr>
        <p:spPr>
          <a:xfrm>
            <a:off x="6519672" y="3570732"/>
            <a:ext cx="4882896" cy="237744"/>
          </a:xfrm>
          <a:prstGeom prst="rect">
            <a:avLst/>
          </a:prstGeom>
          <a:noFill/>
          <a:ln/>
        </p:spPr>
        <p:txBody>
          <a:bodyPr wrap="square" lIns="0" tIns="0" rIns="0" bIns="0" rtlCol="0" anchor="ctr"/>
          <a:lstStyle/>
          <a:p>
            <a:pPr indent="0" marL="0">
              <a:buNone/>
            </a:pPr>
            <a:r>
              <a:rPr lang="en-US" sz="1050" dirty="0">
                <a:solidFill>
                  <a:srgbClr val="00F5A0"/>
                </a:solidFill>
                <a:latin typeface="Courier New" pitchFamily="34" charset="0"/>
                <a:ea typeface="Courier New" pitchFamily="34" charset="-122"/>
                <a:cs typeface="Courier New" pitchFamily="34" charset="-120"/>
              </a:rPr>
              <a:t>&gt; STATUS: APPROVED</a:t>
            </a:r>
            <a:endParaRPr lang="en-US" sz="1050" dirty="0"/>
          </a:p>
        </p:txBody>
      </p:sp>
      <p:sp>
        <p:nvSpPr>
          <p:cNvPr id="30" name="Text 28"/>
          <p:cNvSpPr/>
          <p:nvPr/>
        </p:nvSpPr>
        <p:spPr>
          <a:xfrm>
            <a:off x="6519672" y="3822192"/>
            <a:ext cx="4882896" cy="237744"/>
          </a:xfrm>
          <a:prstGeom prst="rect">
            <a:avLst/>
          </a:prstGeom>
          <a:noFill/>
          <a:ln/>
        </p:spPr>
        <p:txBody>
          <a:bodyPr wrap="square" lIns="0" tIns="0" rIns="0" bIns="0" rtlCol="0" anchor="ctr"/>
          <a:lstStyle/>
          <a:p>
            <a:pPr indent="0" marL="0">
              <a:buNone/>
            </a:pPr>
            <a:r>
              <a:rPr lang="en-US" sz="1050" dirty="0">
                <a:solidFill>
                  <a:srgbClr val="8B98B0"/>
                </a:solidFill>
                <a:latin typeface="Courier New" pitchFamily="34" charset="0"/>
                <a:ea typeface="Courier New" pitchFamily="34" charset="-122"/>
                <a:cs typeface="Courier New" pitchFamily="34" charset="-120"/>
              </a:rPr>
              <a:t>&gt; restoring stable version...</a:t>
            </a:r>
            <a:endParaRPr lang="en-US" sz="1050" dirty="0"/>
          </a:p>
        </p:txBody>
      </p:sp>
      <p:sp>
        <p:nvSpPr>
          <p:cNvPr id="31" name="Text 29"/>
          <p:cNvSpPr/>
          <p:nvPr/>
        </p:nvSpPr>
        <p:spPr>
          <a:xfrm>
            <a:off x="6519672" y="4073652"/>
            <a:ext cx="4882896" cy="237744"/>
          </a:xfrm>
          <a:prstGeom prst="rect">
            <a:avLst/>
          </a:prstGeom>
          <a:noFill/>
          <a:ln/>
        </p:spPr>
        <p:txBody>
          <a:bodyPr wrap="square" lIns="0" tIns="0" rIns="0" bIns="0" rtlCol="0" anchor="ctr"/>
          <a:lstStyle/>
          <a:p>
            <a:pPr indent="0" marL="0">
              <a:buNone/>
            </a:pPr>
            <a:r>
              <a:rPr lang="en-US" sz="1050" dirty="0">
                <a:solidFill>
                  <a:srgbClr val="00F5A0"/>
                </a:solidFill>
                <a:latin typeface="Courier New" pitchFamily="34" charset="0"/>
                <a:ea typeface="Courier New" pitchFamily="34" charset="-122"/>
                <a:cs typeface="Courier New" pitchFamily="34" charset="-120"/>
              </a:rPr>
              <a:t>&gt; ROLLBACK COMPLETE  ✓ logged to audit</a:t>
            </a:r>
            <a:endParaRPr lang="en-US" sz="1050" dirty="0"/>
          </a:p>
        </p:txBody>
      </p:sp>
      <p:pic>
        <p:nvPicPr>
          <p:cNvPr id="32" name="Image 0" descr="preencoded.png">    </p:cNvPr>
          <p:cNvPicPr>
            <a:picLocks noChangeAspect="1"/>
          </p:cNvPicPr>
          <p:nvPr/>
        </p:nvPicPr>
        <p:blipFill>
          <a:blip r:embed="rId1"/>
          <a:stretch>
            <a:fillRect/>
          </a:stretch>
        </p:blipFill>
        <p:spPr>
          <a:xfrm>
            <a:off x="548640" y="4709160"/>
            <a:ext cx="329184" cy="329184"/>
          </a:xfrm>
          <a:prstGeom prst="rect">
            <a:avLst/>
          </a:prstGeom>
        </p:spPr>
      </p:pic>
      <p:sp>
        <p:nvSpPr>
          <p:cNvPr id="33" name="Text 30"/>
          <p:cNvSpPr/>
          <p:nvPr/>
        </p:nvSpPr>
        <p:spPr>
          <a:xfrm>
            <a:off x="987552" y="4681728"/>
            <a:ext cx="2194560" cy="274320"/>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1. Detection</a:t>
            </a:r>
            <a:endParaRPr lang="en-US" sz="1200" dirty="0"/>
          </a:p>
        </p:txBody>
      </p:sp>
      <p:sp>
        <p:nvSpPr>
          <p:cNvPr id="34" name="Text 31"/>
          <p:cNvSpPr/>
          <p:nvPr/>
        </p:nvSpPr>
        <p:spPr>
          <a:xfrm>
            <a:off x="548640" y="5056632"/>
            <a:ext cx="2651760" cy="457200"/>
          </a:xfrm>
          <a:prstGeom prst="rect">
            <a:avLst/>
          </a:prstGeom>
          <a:noFill/>
          <a:ln/>
        </p:spPr>
        <p:txBody>
          <a:bodyPr wrap="square" lIns="0" tIns="0" rIns="0" bIns="0" rtlCol="0" anchor="ctr"/>
          <a:lstStyle/>
          <a:p>
            <a:pPr indent="0" marL="0">
              <a:lnSpc>
                <a:spcPct val="110000"/>
              </a:lnSpc>
              <a:buNone/>
            </a:pPr>
            <a:r>
              <a:rPr lang="en-US" sz="1000" dirty="0">
                <a:solidFill>
                  <a:srgbClr val="8B98B0"/>
                </a:solidFill>
                <a:latin typeface="Calibri" pitchFamily="34" charset="0"/>
                <a:ea typeface="Calibri" pitchFamily="34" charset="-122"/>
                <a:cs typeface="Calibri" pitchFamily="34" charset="-120"/>
              </a:rPr>
              <a:t>AI scans logs, finds the TypeError.</a:t>
            </a:r>
            <a:endParaRPr lang="en-US" sz="1000" dirty="0"/>
          </a:p>
        </p:txBody>
      </p:sp>
      <p:pic>
        <p:nvPicPr>
          <p:cNvPr id="35" name="Image 1" descr="preencoded.png">    </p:cNvPr>
          <p:cNvPicPr>
            <a:picLocks noChangeAspect="1"/>
          </p:cNvPicPr>
          <p:nvPr/>
        </p:nvPicPr>
        <p:blipFill>
          <a:blip r:embed="rId2"/>
          <a:stretch>
            <a:fillRect/>
          </a:stretch>
        </p:blipFill>
        <p:spPr>
          <a:xfrm>
            <a:off x="3401568" y="4709160"/>
            <a:ext cx="329184" cy="329184"/>
          </a:xfrm>
          <a:prstGeom prst="rect">
            <a:avLst/>
          </a:prstGeom>
        </p:spPr>
      </p:pic>
      <p:sp>
        <p:nvSpPr>
          <p:cNvPr id="36" name="Text 32"/>
          <p:cNvSpPr/>
          <p:nvPr/>
        </p:nvSpPr>
        <p:spPr>
          <a:xfrm>
            <a:off x="3840480" y="4681728"/>
            <a:ext cx="2194560" cy="274320"/>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2. Identification</a:t>
            </a:r>
            <a:endParaRPr lang="en-US" sz="1200" dirty="0"/>
          </a:p>
        </p:txBody>
      </p:sp>
      <p:sp>
        <p:nvSpPr>
          <p:cNvPr id="37" name="Text 33"/>
          <p:cNvSpPr/>
          <p:nvPr/>
        </p:nvSpPr>
        <p:spPr>
          <a:xfrm>
            <a:off x="3401568" y="5056632"/>
            <a:ext cx="2651760" cy="457200"/>
          </a:xfrm>
          <a:prstGeom prst="rect">
            <a:avLst/>
          </a:prstGeom>
          <a:noFill/>
          <a:ln/>
        </p:spPr>
        <p:txBody>
          <a:bodyPr wrap="square" lIns="0" tIns="0" rIns="0" bIns="0" rtlCol="0" anchor="ctr"/>
          <a:lstStyle/>
          <a:p>
            <a:pPr indent="0" marL="0">
              <a:lnSpc>
                <a:spcPct val="110000"/>
              </a:lnSpc>
              <a:buNone/>
            </a:pPr>
            <a:r>
              <a:rPr lang="en-US" sz="1000" dirty="0">
                <a:solidFill>
                  <a:srgbClr val="8B98B0"/>
                </a:solidFill>
                <a:latin typeface="Calibri" pitchFamily="34" charset="0"/>
                <a:ea typeface="Calibri" pitchFamily="34" charset="-122"/>
                <a:cs typeface="Calibri" pitchFamily="34" charset="-120"/>
              </a:rPr>
              <a:t>Traces the breaking commit via git-diff.</a:t>
            </a:r>
            <a:endParaRPr lang="en-US" sz="1000" dirty="0"/>
          </a:p>
        </p:txBody>
      </p:sp>
      <p:pic>
        <p:nvPicPr>
          <p:cNvPr id="38" name="Image 2" descr="preencoded.png">    </p:cNvPr>
          <p:cNvPicPr>
            <a:picLocks noChangeAspect="1"/>
          </p:cNvPicPr>
          <p:nvPr/>
        </p:nvPicPr>
        <p:blipFill>
          <a:blip r:embed="rId3"/>
          <a:stretch>
            <a:fillRect/>
          </a:stretch>
        </p:blipFill>
        <p:spPr>
          <a:xfrm>
            <a:off x="6254496" y="4709160"/>
            <a:ext cx="329184" cy="329184"/>
          </a:xfrm>
          <a:prstGeom prst="rect">
            <a:avLst/>
          </a:prstGeom>
        </p:spPr>
      </p:pic>
      <p:sp>
        <p:nvSpPr>
          <p:cNvPr id="39" name="Text 34"/>
          <p:cNvSpPr/>
          <p:nvPr/>
        </p:nvSpPr>
        <p:spPr>
          <a:xfrm>
            <a:off x="6693408" y="4681728"/>
            <a:ext cx="2194560" cy="274320"/>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3. Gate Triggered</a:t>
            </a:r>
            <a:endParaRPr lang="en-US" sz="1200" dirty="0"/>
          </a:p>
        </p:txBody>
      </p:sp>
      <p:sp>
        <p:nvSpPr>
          <p:cNvPr id="40" name="Text 35"/>
          <p:cNvSpPr/>
          <p:nvPr/>
        </p:nvSpPr>
        <p:spPr>
          <a:xfrm>
            <a:off x="6254496" y="5056632"/>
            <a:ext cx="2651760" cy="457200"/>
          </a:xfrm>
          <a:prstGeom prst="rect">
            <a:avLst/>
          </a:prstGeom>
          <a:noFill/>
          <a:ln/>
        </p:spPr>
        <p:txBody>
          <a:bodyPr wrap="square" lIns="0" tIns="0" rIns="0" bIns="0" rtlCol="0" anchor="ctr"/>
          <a:lstStyle/>
          <a:p>
            <a:pPr indent="0" marL="0">
              <a:lnSpc>
                <a:spcPct val="110000"/>
              </a:lnSpc>
              <a:buNone/>
            </a:pPr>
            <a:r>
              <a:rPr lang="en-US" sz="1000" dirty="0">
                <a:solidFill>
                  <a:srgbClr val="8B98B0"/>
                </a:solidFill>
                <a:latin typeface="Calibri" pitchFamily="34" charset="0"/>
                <a:ea typeface="Calibri" pitchFamily="34" charset="-122"/>
                <a:cs typeface="Calibri" pitchFamily="34" charset="-120"/>
              </a:rPr>
              <a:t>Rollback issues a UUID and pauses.</a:t>
            </a:r>
            <a:endParaRPr lang="en-US" sz="1000" dirty="0"/>
          </a:p>
        </p:txBody>
      </p:sp>
      <p:pic>
        <p:nvPicPr>
          <p:cNvPr id="41" name="Image 3" descr="preencoded.png">    </p:cNvPr>
          <p:cNvPicPr>
            <a:picLocks noChangeAspect="1"/>
          </p:cNvPicPr>
          <p:nvPr/>
        </p:nvPicPr>
        <p:blipFill>
          <a:blip r:embed="rId4"/>
          <a:stretch>
            <a:fillRect/>
          </a:stretch>
        </p:blipFill>
        <p:spPr>
          <a:xfrm>
            <a:off x="9107424" y="4709160"/>
            <a:ext cx="329184" cy="329184"/>
          </a:xfrm>
          <a:prstGeom prst="rect">
            <a:avLst/>
          </a:prstGeom>
        </p:spPr>
      </p:pic>
      <p:sp>
        <p:nvSpPr>
          <p:cNvPr id="42" name="Text 36"/>
          <p:cNvSpPr/>
          <p:nvPr/>
        </p:nvSpPr>
        <p:spPr>
          <a:xfrm>
            <a:off x="9546336" y="4681728"/>
            <a:ext cx="2194560" cy="274320"/>
          </a:xfrm>
          <a:prstGeom prst="rect">
            <a:avLst/>
          </a:prstGeom>
          <a:noFill/>
          <a:ln/>
        </p:spPr>
        <p:txBody>
          <a:bodyPr wrap="square" lIns="0" tIns="0" rIns="0" bIns="0" rtlCol="0" anchor="ctr"/>
          <a:lstStyle/>
          <a:p>
            <a:pPr indent="0" marL="0">
              <a:buNone/>
            </a:pPr>
            <a:r>
              <a:rPr lang="en-US" sz="1200" b="1" dirty="0">
                <a:solidFill>
                  <a:srgbClr val="F5F7FA"/>
                </a:solidFill>
                <a:latin typeface="Calibri" pitchFamily="34" charset="0"/>
                <a:ea typeface="Calibri" pitchFamily="34" charset="-122"/>
                <a:cs typeface="Calibri" pitchFamily="34" charset="-120"/>
              </a:rPr>
              <a:t>4. Human Action</a:t>
            </a:r>
            <a:endParaRPr lang="en-US" sz="1200" dirty="0"/>
          </a:p>
        </p:txBody>
      </p:sp>
      <p:sp>
        <p:nvSpPr>
          <p:cNvPr id="43" name="Text 37"/>
          <p:cNvSpPr/>
          <p:nvPr/>
        </p:nvSpPr>
        <p:spPr>
          <a:xfrm>
            <a:off x="9107424" y="5056632"/>
            <a:ext cx="2651760" cy="457200"/>
          </a:xfrm>
          <a:prstGeom prst="rect">
            <a:avLst/>
          </a:prstGeom>
          <a:noFill/>
          <a:ln/>
        </p:spPr>
        <p:txBody>
          <a:bodyPr wrap="square" lIns="0" tIns="0" rIns="0" bIns="0" rtlCol="0" anchor="ctr"/>
          <a:lstStyle/>
          <a:p>
            <a:pPr indent="0" marL="0">
              <a:lnSpc>
                <a:spcPct val="110000"/>
              </a:lnSpc>
              <a:buNone/>
            </a:pPr>
            <a:r>
              <a:rPr lang="en-US" sz="1000" dirty="0">
                <a:solidFill>
                  <a:srgbClr val="8B98B0"/>
                </a:solidFill>
                <a:latin typeface="Calibri" pitchFamily="34" charset="0"/>
                <a:ea typeface="Calibri" pitchFamily="34" charset="-122"/>
                <a:cs typeface="Calibri" pitchFamily="34" charset="-120"/>
              </a:rPr>
              <a:t>npm run approve — JWT validates, system restores.</a:t>
            </a:r>
            <a:endParaRPr lang="en-US" sz="1000" dirty="0"/>
          </a:p>
        </p:txBody>
      </p:sp>
      <p:sp>
        <p:nvSpPr>
          <p:cNvPr id="44" name="Text 38"/>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45" name="Text 39"/>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PUTTING IT TOGETHER</a:t>
            </a:r>
            <a:endParaRPr lang="en-US" sz="900" dirty="0"/>
          </a:p>
        </p:txBody>
      </p:sp>
      <p:sp>
        <p:nvSpPr>
          <p:cNvPr id="46" name="Text 40"/>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06 / 07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548640" y="457200"/>
            <a:ext cx="5486400" cy="320040"/>
          </a:xfrm>
          <a:prstGeom prst="rect">
            <a:avLst/>
          </a:prstGeom>
          <a:noFill/>
          <a:ln/>
        </p:spPr>
        <p:txBody>
          <a:bodyPr wrap="square" lIns="0" tIns="0" rIns="0" bIns="0" rtlCol="0" anchor="ctr"/>
          <a:lstStyle/>
          <a:p>
            <a:pPr algn="l" indent="0" marL="0">
              <a:buNone/>
            </a:pPr>
            <a:r>
              <a:rPr lang="en-US" sz="1200" b="1" spc="200" kern="0" dirty="0">
                <a:solidFill>
                  <a:srgbClr val="00F5A0"/>
                </a:solidFill>
                <a:latin typeface="Courier New" pitchFamily="34" charset="0"/>
                <a:ea typeface="Courier New" pitchFamily="34" charset="-122"/>
                <a:cs typeface="Courier New" pitchFamily="34" charset="-120"/>
              </a:rPr>
              <a:t>VALUE &amp; FUTURE HORIZON</a:t>
            </a:r>
            <a:endParaRPr lang="en-US" sz="1200" dirty="0"/>
          </a:p>
        </p:txBody>
      </p:sp>
      <p:sp>
        <p:nvSpPr>
          <p:cNvPr id="3" name="Text 1"/>
          <p:cNvSpPr/>
          <p:nvPr/>
        </p:nvSpPr>
        <p:spPr>
          <a:xfrm>
            <a:off x="548640" y="786384"/>
            <a:ext cx="11064240" cy="685800"/>
          </a:xfrm>
          <a:prstGeom prst="rect">
            <a:avLst/>
          </a:prstGeom>
          <a:noFill/>
          <a:ln/>
        </p:spPr>
        <p:txBody>
          <a:bodyPr wrap="square" lIns="0" tIns="0" rIns="0" bIns="0" rtlCol="0" anchor="t"/>
          <a:lstStyle/>
          <a:p>
            <a:pPr algn="l" indent="0" marL="0">
              <a:buNone/>
            </a:pPr>
            <a:r>
              <a:rPr lang="en-US" sz="3000" b="1" dirty="0">
                <a:solidFill>
                  <a:srgbClr val="F5F7FA"/>
                </a:solidFill>
                <a:latin typeface="Cambria" pitchFamily="34" charset="0"/>
                <a:ea typeface="Cambria" pitchFamily="34" charset="-122"/>
                <a:cs typeface="Cambria" pitchFamily="34" charset="-120"/>
              </a:rPr>
              <a:t>The Future of Secure DevSecOps</a:t>
            </a:r>
            <a:endParaRPr lang="en-US" sz="3000" dirty="0"/>
          </a:p>
        </p:txBody>
      </p:sp>
      <p:sp>
        <p:nvSpPr>
          <p:cNvPr id="4" name="Text 2"/>
          <p:cNvSpPr/>
          <p:nvPr/>
        </p:nvSpPr>
        <p:spPr>
          <a:xfrm>
            <a:off x="548640" y="1691640"/>
            <a:ext cx="5486400" cy="274320"/>
          </a:xfrm>
          <a:prstGeom prst="rect">
            <a:avLst/>
          </a:prstGeom>
          <a:noFill/>
          <a:ln/>
        </p:spPr>
        <p:txBody>
          <a:bodyPr wrap="square" lIns="0" tIns="0" rIns="0" bIns="0" rtlCol="0" anchor="ctr"/>
          <a:lstStyle/>
          <a:p>
            <a:pPr indent="0" marL="0">
              <a:buNone/>
            </a:pPr>
            <a:r>
              <a:rPr lang="en-US" sz="1100" b="1" spc="100" kern="0" dirty="0">
                <a:solidFill>
                  <a:srgbClr val="00F5A0"/>
                </a:solidFill>
                <a:latin typeface="Courier New" pitchFamily="34" charset="0"/>
                <a:ea typeface="Courier New" pitchFamily="34" charset="-122"/>
                <a:cs typeface="Courier New" pitchFamily="34" charset="-120"/>
              </a:rPr>
              <a:t>BUILT FOR THE ENTERPRISE</a:t>
            </a:r>
            <a:endParaRPr lang="en-US" sz="1100" dirty="0"/>
          </a:p>
        </p:txBody>
      </p:sp>
      <p:sp>
        <p:nvSpPr>
          <p:cNvPr id="5" name="Shape 3"/>
          <p:cNvSpPr/>
          <p:nvPr/>
        </p:nvSpPr>
        <p:spPr>
          <a:xfrm>
            <a:off x="548640" y="2057400"/>
            <a:ext cx="3520440" cy="1600200"/>
          </a:xfrm>
          <a:prstGeom prst="roundRect">
            <a:avLst>
              <a:gd name="adj" fmla="val 5714"/>
            </a:avLst>
          </a:prstGeom>
          <a:solidFill>
            <a:srgbClr val="141C2E"/>
          </a:solidFill>
          <a:ln w="12700">
            <a:solidFill>
              <a:srgbClr val="263352"/>
            </a:solidFill>
            <a:prstDash val="solid"/>
          </a:ln>
        </p:spPr>
      </p:sp>
      <p:sp>
        <p:nvSpPr>
          <p:cNvPr id="6" name="Shape 4"/>
          <p:cNvSpPr/>
          <p:nvPr/>
        </p:nvSpPr>
        <p:spPr>
          <a:xfrm>
            <a:off x="804672" y="2313432"/>
            <a:ext cx="548640" cy="548640"/>
          </a:xfrm>
          <a:prstGeom prst="ellipse">
            <a:avLst/>
          </a:prstGeom>
          <a:solidFill>
            <a:srgbClr val="0A3D2C"/>
          </a:solidFill>
          <a:ln/>
        </p:spPr>
      </p:sp>
      <p:pic>
        <p:nvPicPr>
          <p:cNvPr id="7" name="Image 0" descr="preencoded.png">    </p:cNvPr>
          <p:cNvPicPr>
            <a:picLocks noChangeAspect="1"/>
          </p:cNvPicPr>
          <p:nvPr/>
        </p:nvPicPr>
        <p:blipFill>
          <a:blip r:embed="rId1"/>
          <a:stretch>
            <a:fillRect/>
          </a:stretch>
        </p:blipFill>
        <p:spPr>
          <a:xfrm>
            <a:off x="941832" y="2450592"/>
            <a:ext cx="274320" cy="274320"/>
          </a:xfrm>
          <a:prstGeom prst="rect">
            <a:avLst/>
          </a:prstGeom>
        </p:spPr>
      </p:pic>
      <p:sp>
        <p:nvSpPr>
          <p:cNvPr id="8" name="Text 5"/>
          <p:cNvSpPr/>
          <p:nvPr/>
        </p:nvSpPr>
        <p:spPr>
          <a:xfrm>
            <a:off x="1508760" y="2331720"/>
            <a:ext cx="2331720" cy="320040"/>
          </a:xfrm>
          <a:prstGeom prst="rect">
            <a:avLst/>
          </a:prstGeom>
          <a:noFill/>
          <a:ln/>
        </p:spPr>
        <p:txBody>
          <a:bodyPr wrap="square" lIns="0" tIns="0" rIns="0" bIns="0" rtlCol="0" anchor="ctr"/>
          <a:lstStyle/>
          <a:p>
            <a:pPr indent="0" marL="0">
              <a:buNone/>
            </a:pPr>
            <a:r>
              <a:rPr lang="en-US" sz="1450" b="1" dirty="0">
                <a:solidFill>
                  <a:srgbClr val="F5F7FA"/>
                </a:solidFill>
                <a:latin typeface="Cambria" pitchFamily="34" charset="0"/>
                <a:ea typeface="Cambria" pitchFamily="34" charset="-122"/>
                <a:cs typeface="Cambria" pitchFamily="34" charset="-120"/>
              </a:rPr>
              <a:t>SOC2 / ISO27001</a:t>
            </a:r>
            <a:endParaRPr lang="en-US" sz="1450" dirty="0"/>
          </a:p>
        </p:txBody>
      </p:sp>
      <p:sp>
        <p:nvSpPr>
          <p:cNvPr id="9" name="Text 6"/>
          <p:cNvSpPr/>
          <p:nvPr/>
        </p:nvSpPr>
        <p:spPr>
          <a:xfrm>
            <a:off x="804672" y="2971800"/>
            <a:ext cx="3008376" cy="594360"/>
          </a:xfrm>
          <a:prstGeom prst="rect">
            <a:avLst/>
          </a:prstGeom>
          <a:noFill/>
          <a:ln/>
        </p:spPr>
        <p:txBody>
          <a:bodyPr wrap="square" lIns="0" tIns="0" rIns="0" bIns="0" rtlCol="0" anchor="ctr"/>
          <a:lstStyle/>
          <a:p>
            <a:pPr indent="0" marL="0">
              <a:lnSpc>
                <a:spcPct val="110000"/>
              </a:lnSpc>
              <a:buNone/>
            </a:pPr>
            <a:r>
              <a:rPr lang="en-US" sz="1050" dirty="0">
                <a:solidFill>
                  <a:srgbClr val="8B98B0"/>
                </a:solidFill>
                <a:latin typeface="Calibri" pitchFamily="34" charset="0"/>
                <a:ea typeface="Calibri" pitchFamily="34" charset="-122"/>
                <a:cs typeface="Calibri" pitchFamily="34" charset="-120"/>
              </a:rPr>
              <a:t>Audit-ready compliance for AI systems.</a:t>
            </a:r>
            <a:endParaRPr lang="en-US" sz="1050" dirty="0"/>
          </a:p>
        </p:txBody>
      </p:sp>
      <p:sp>
        <p:nvSpPr>
          <p:cNvPr id="10" name="Shape 7"/>
          <p:cNvSpPr/>
          <p:nvPr/>
        </p:nvSpPr>
        <p:spPr>
          <a:xfrm>
            <a:off x="4389120" y="2057400"/>
            <a:ext cx="3520440" cy="1600200"/>
          </a:xfrm>
          <a:prstGeom prst="roundRect">
            <a:avLst>
              <a:gd name="adj" fmla="val 5714"/>
            </a:avLst>
          </a:prstGeom>
          <a:solidFill>
            <a:srgbClr val="141C2E"/>
          </a:solidFill>
          <a:ln w="12700">
            <a:solidFill>
              <a:srgbClr val="263352"/>
            </a:solidFill>
            <a:prstDash val="solid"/>
          </a:ln>
        </p:spPr>
      </p:sp>
      <p:sp>
        <p:nvSpPr>
          <p:cNvPr id="11" name="Shape 8"/>
          <p:cNvSpPr/>
          <p:nvPr/>
        </p:nvSpPr>
        <p:spPr>
          <a:xfrm>
            <a:off x="4645152" y="2313432"/>
            <a:ext cx="548640" cy="548640"/>
          </a:xfrm>
          <a:prstGeom prst="ellipse">
            <a:avLst/>
          </a:prstGeom>
          <a:solidFill>
            <a:srgbClr val="0A3D2C"/>
          </a:solidFill>
          <a:ln/>
        </p:spPr>
      </p:sp>
      <p:pic>
        <p:nvPicPr>
          <p:cNvPr id="12" name="Image 1" descr="preencoded.png">    </p:cNvPr>
          <p:cNvPicPr>
            <a:picLocks noChangeAspect="1"/>
          </p:cNvPicPr>
          <p:nvPr/>
        </p:nvPicPr>
        <p:blipFill>
          <a:blip r:embed="rId2"/>
          <a:stretch>
            <a:fillRect/>
          </a:stretch>
        </p:blipFill>
        <p:spPr>
          <a:xfrm>
            <a:off x="4782312" y="2450592"/>
            <a:ext cx="274320" cy="274320"/>
          </a:xfrm>
          <a:prstGeom prst="rect">
            <a:avLst/>
          </a:prstGeom>
        </p:spPr>
      </p:pic>
      <p:sp>
        <p:nvSpPr>
          <p:cNvPr id="13" name="Text 9"/>
          <p:cNvSpPr/>
          <p:nvPr/>
        </p:nvSpPr>
        <p:spPr>
          <a:xfrm>
            <a:off x="5349240" y="2331720"/>
            <a:ext cx="2331720" cy="320040"/>
          </a:xfrm>
          <a:prstGeom prst="rect">
            <a:avLst/>
          </a:prstGeom>
          <a:noFill/>
          <a:ln/>
        </p:spPr>
        <p:txBody>
          <a:bodyPr wrap="square" lIns="0" tIns="0" rIns="0" bIns="0" rtlCol="0" anchor="ctr"/>
          <a:lstStyle/>
          <a:p>
            <a:pPr indent="0" marL="0">
              <a:buNone/>
            </a:pPr>
            <a:r>
              <a:rPr lang="en-US" sz="1450" b="1" dirty="0">
                <a:solidFill>
                  <a:srgbClr val="F5F7FA"/>
                </a:solidFill>
                <a:latin typeface="Cambria" pitchFamily="34" charset="0"/>
                <a:ea typeface="Cambria" pitchFamily="34" charset="-122"/>
                <a:cs typeface="Cambria" pitchFamily="34" charset="-120"/>
              </a:rPr>
              <a:t>MCP-Native</a:t>
            </a:r>
            <a:endParaRPr lang="en-US" sz="1450" dirty="0"/>
          </a:p>
        </p:txBody>
      </p:sp>
      <p:sp>
        <p:nvSpPr>
          <p:cNvPr id="14" name="Text 10"/>
          <p:cNvSpPr/>
          <p:nvPr/>
        </p:nvSpPr>
        <p:spPr>
          <a:xfrm>
            <a:off x="4645152" y="2971800"/>
            <a:ext cx="3008376" cy="594360"/>
          </a:xfrm>
          <a:prstGeom prst="rect">
            <a:avLst/>
          </a:prstGeom>
          <a:noFill/>
          <a:ln/>
        </p:spPr>
        <p:txBody>
          <a:bodyPr wrap="square" lIns="0" tIns="0" rIns="0" bIns="0" rtlCol="0" anchor="ctr"/>
          <a:lstStyle/>
          <a:p>
            <a:pPr indent="0" marL="0">
              <a:lnSpc>
                <a:spcPct val="110000"/>
              </a:lnSpc>
              <a:buNone/>
            </a:pPr>
            <a:r>
              <a:rPr lang="en-US" sz="1050" dirty="0">
                <a:solidFill>
                  <a:srgbClr val="8B98B0"/>
                </a:solidFill>
                <a:latin typeface="Calibri" pitchFamily="34" charset="0"/>
                <a:ea typeface="Calibri" pitchFamily="34" charset="-122"/>
                <a:cs typeface="Calibri" pitchFamily="34" charset="-120"/>
              </a:rPr>
              <a:t>Low footprint. Works with any Model Context Protocol client.</a:t>
            </a:r>
            <a:endParaRPr lang="en-US" sz="1050" dirty="0"/>
          </a:p>
        </p:txBody>
      </p:sp>
      <p:sp>
        <p:nvSpPr>
          <p:cNvPr id="15" name="Shape 11"/>
          <p:cNvSpPr/>
          <p:nvPr/>
        </p:nvSpPr>
        <p:spPr>
          <a:xfrm>
            <a:off x="8229600" y="2057400"/>
            <a:ext cx="3520440" cy="1600200"/>
          </a:xfrm>
          <a:prstGeom prst="roundRect">
            <a:avLst>
              <a:gd name="adj" fmla="val 5714"/>
            </a:avLst>
          </a:prstGeom>
          <a:solidFill>
            <a:srgbClr val="141C2E"/>
          </a:solidFill>
          <a:ln w="12700">
            <a:solidFill>
              <a:srgbClr val="263352"/>
            </a:solidFill>
            <a:prstDash val="solid"/>
          </a:ln>
        </p:spPr>
      </p:sp>
      <p:sp>
        <p:nvSpPr>
          <p:cNvPr id="16" name="Shape 12"/>
          <p:cNvSpPr/>
          <p:nvPr/>
        </p:nvSpPr>
        <p:spPr>
          <a:xfrm>
            <a:off x="8485632" y="2313432"/>
            <a:ext cx="548640" cy="548640"/>
          </a:xfrm>
          <a:prstGeom prst="ellipse">
            <a:avLst/>
          </a:prstGeom>
          <a:solidFill>
            <a:srgbClr val="0A3D2C"/>
          </a:solidFill>
          <a:ln/>
        </p:spPr>
      </p:sp>
      <p:pic>
        <p:nvPicPr>
          <p:cNvPr id="17" name="Image 2" descr="preencoded.png">    </p:cNvPr>
          <p:cNvPicPr>
            <a:picLocks noChangeAspect="1"/>
          </p:cNvPicPr>
          <p:nvPr/>
        </p:nvPicPr>
        <p:blipFill>
          <a:blip r:embed="rId3"/>
          <a:stretch>
            <a:fillRect/>
          </a:stretch>
        </p:blipFill>
        <p:spPr>
          <a:xfrm>
            <a:off x="8622792" y="2450592"/>
            <a:ext cx="274320" cy="274320"/>
          </a:xfrm>
          <a:prstGeom prst="rect">
            <a:avLst/>
          </a:prstGeom>
        </p:spPr>
      </p:pic>
      <p:sp>
        <p:nvSpPr>
          <p:cNvPr id="18" name="Text 13"/>
          <p:cNvSpPr/>
          <p:nvPr/>
        </p:nvSpPr>
        <p:spPr>
          <a:xfrm>
            <a:off x="9189720" y="2331720"/>
            <a:ext cx="2331720" cy="320040"/>
          </a:xfrm>
          <a:prstGeom prst="rect">
            <a:avLst/>
          </a:prstGeom>
          <a:noFill/>
          <a:ln/>
        </p:spPr>
        <p:txBody>
          <a:bodyPr wrap="square" lIns="0" tIns="0" rIns="0" bIns="0" rtlCol="0" anchor="ctr"/>
          <a:lstStyle/>
          <a:p>
            <a:pPr indent="0" marL="0">
              <a:buNone/>
            </a:pPr>
            <a:r>
              <a:rPr lang="en-US" sz="1450" b="1" dirty="0">
                <a:solidFill>
                  <a:srgbClr val="F5F7FA"/>
                </a:solidFill>
                <a:latin typeface="Cambria" pitchFamily="34" charset="0"/>
                <a:ea typeface="Cambria" pitchFamily="34" charset="-122"/>
                <a:cs typeface="Cambria" pitchFamily="34" charset="-120"/>
              </a:rPr>
              <a:t>Zero Trust by Default</a:t>
            </a:r>
            <a:endParaRPr lang="en-US" sz="1450" dirty="0"/>
          </a:p>
        </p:txBody>
      </p:sp>
      <p:sp>
        <p:nvSpPr>
          <p:cNvPr id="19" name="Text 14"/>
          <p:cNvSpPr/>
          <p:nvPr/>
        </p:nvSpPr>
        <p:spPr>
          <a:xfrm>
            <a:off x="8485632" y="2971800"/>
            <a:ext cx="3008376" cy="594360"/>
          </a:xfrm>
          <a:prstGeom prst="rect">
            <a:avLst/>
          </a:prstGeom>
          <a:noFill/>
          <a:ln/>
        </p:spPr>
        <p:txBody>
          <a:bodyPr wrap="square" lIns="0" tIns="0" rIns="0" bIns="0" rtlCol="0" anchor="ctr"/>
          <a:lstStyle/>
          <a:p>
            <a:pPr indent="0" marL="0">
              <a:lnSpc>
                <a:spcPct val="110000"/>
              </a:lnSpc>
              <a:buNone/>
            </a:pPr>
            <a:r>
              <a:rPr lang="en-US" sz="1050" dirty="0">
                <a:solidFill>
                  <a:srgbClr val="8B98B0"/>
                </a:solidFill>
                <a:latin typeface="Calibri" pitchFamily="34" charset="0"/>
                <a:ea typeface="Calibri" pitchFamily="34" charset="-122"/>
                <a:cs typeface="Calibri" pitchFamily="34" charset="-120"/>
              </a:rPr>
              <a:t>No standing credentials. Every action authorized per-transaction.</a:t>
            </a:r>
            <a:endParaRPr lang="en-US" sz="1050" dirty="0"/>
          </a:p>
        </p:txBody>
      </p:sp>
      <p:sp>
        <p:nvSpPr>
          <p:cNvPr id="20" name="Text 15"/>
          <p:cNvSpPr/>
          <p:nvPr/>
        </p:nvSpPr>
        <p:spPr>
          <a:xfrm>
            <a:off x="548640" y="3977640"/>
            <a:ext cx="5486400" cy="274320"/>
          </a:xfrm>
          <a:prstGeom prst="rect">
            <a:avLst/>
          </a:prstGeom>
          <a:noFill/>
          <a:ln/>
        </p:spPr>
        <p:txBody>
          <a:bodyPr wrap="square" lIns="0" tIns="0" rIns="0" bIns="0" rtlCol="0" anchor="ctr"/>
          <a:lstStyle/>
          <a:p>
            <a:pPr indent="0" marL="0">
              <a:buNone/>
            </a:pPr>
            <a:r>
              <a:rPr lang="en-US" sz="1100" b="1" spc="100" kern="0" dirty="0">
                <a:solidFill>
                  <a:srgbClr val="22D3EE"/>
                </a:solidFill>
                <a:latin typeface="Courier New" pitchFamily="34" charset="0"/>
                <a:ea typeface="Courier New" pitchFamily="34" charset="-122"/>
                <a:cs typeface="Courier New" pitchFamily="34" charset="-120"/>
              </a:rPr>
              <a:t>WHAT'S NEXT</a:t>
            </a:r>
            <a:endParaRPr lang="en-US" sz="1100" dirty="0"/>
          </a:p>
        </p:txBody>
      </p:sp>
      <p:sp>
        <p:nvSpPr>
          <p:cNvPr id="21" name="Shape 16"/>
          <p:cNvSpPr/>
          <p:nvPr/>
        </p:nvSpPr>
        <p:spPr>
          <a:xfrm>
            <a:off x="914400" y="4526280"/>
            <a:ext cx="10332720" cy="0"/>
          </a:xfrm>
          <a:prstGeom prst="line">
            <a:avLst/>
          </a:prstGeom>
          <a:noFill/>
          <a:ln w="19050">
            <a:solidFill>
              <a:srgbClr val="263352"/>
            </a:solidFill>
            <a:prstDash val="solid"/>
          </a:ln>
        </p:spPr>
      </p:sp>
      <p:sp>
        <p:nvSpPr>
          <p:cNvPr id="22" name="Shape 17"/>
          <p:cNvSpPr/>
          <p:nvPr/>
        </p:nvSpPr>
        <p:spPr>
          <a:xfrm>
            <a:off x="850392" y="4462272"/>
            <a:ext cx="128016" cy="128016"/>
          </a:xfrm>
          <a:prstGeom prst="ellipse">
            <a:avLst/>
          </a:prstGeom>
          <a:solidFill>
            <a:srgbClr val="00F5A0"/>
          </a:solidFill>
          <a:ln/>
        </p:spPr>
      </p:sp>
      <p:pic>
        <p:nvPicPr>
          <p:cNvPr id="23" name="Image 3" descr="preencoded.png">    </p:cNvPr>
          <p:cNvPicPr>
            <a:picLocks noChangeAspect="1"/>
          </p:cNvPicPr>
          <p:nvPr/>
        </p:nvPicPr>
        <p:blipFill>
          <a:blip r:embed="rId4"/>
          <a:stretch>
            <a:fillRect/>
          </a:stretch>
        </p:blipFill>
        <p:spPr>
          <a:xfrm>
            <a:off x="914400" y="4754880"/>
            <a:ext cx="365760" cy="365760"/>
          </a:xfrm>
          <a:prstGeom prst="rect">
            <a:avLst/>
          </a:prstGeom>
        </p:spPr>
      </p:pic>
      <p:sp>
        <p:nvSpPr>
          <p:cNvPr id="24" name="Text 18"/>
          <p:cNvSpPr/>
          <p:nvPr/>
        </p:nvSpPr>
        <p:spPr>
          <a:xfrm>
            <a:off x="1417320" y="4745736"/>
            <a:ext cx="2743200" cy="36576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Multi-Sig Authorization</a:t>
            </a:r>
            <a:endParaRPr lang="en-US" sz="1250" dirty="0"/>
          </a:p>
        </p:txBody>
      </p:sp>
      <p:sp>
        <p:nvSpPr>
          <p:cNvPr id="25" name="Text 19"/>
          <p:cNvSpPr/>
          <p:nvPr/>
        </p:nvSpPr>
        <p:spPr>
          <a:xfrm>
            <a:off x="914400" y="5184648"/>
            <a:ext cx="3291840" cy="594360"/>
          </a:xfrm>
          <a:prstGeom prst="rect">
            <a:avLst/>
          </a:prstGeom>
          <a:noFill/>
          <a:ln/>
        </p:spPr>
        <p:txBody>
          <a:bodyPr wrap="square" lIns="0" tIns="0" rIns="0" bIns="0" rtlCol="0" anchor="ctr"/>
          <a:lstStyle/>
          <a:p>
            <a:pPr indent="0" marL="0">
              <a:lnSpc>
                <a:spcPct val="110000"/>
              </a:lnSpc>
              <a:buNone/>
            </a:pPr>
            <a:r>
              <a:rPr lang="en-US" sz="1050" dirty="0">
                <a:solidFill>
                  <a:srgbClr val="8B98B0"/>
                </a:solidFill>
                <a:latin typeface="Calibri" pitchFamily="34" charset="0"/>
                <a:ea typeface="Calibri" pitchFamily="34" charset="-122"/>
                <a:cs typeface="Calibri" pitchFamily="34" charset="-120"/>
              </a:rPr>
              <a:t>Decentralized, multi-party approval for critical actions.</a:t>
            </a:r>
            <a:endParaRPr lang="en-US" sz="1050" dirty="0"/>
          </a:p>
        </p:txBody>
      </p:sp>
      <p:sp>
        <p:nvSpPr>
          <p:cNvPr id="26" name="Shape 20"/>
          <p:cNvSpPr/>
          <p:nvPr/>
        </p:nvSpPr>
        <p:spPr>
          <a:xfrm>
            <a:off x="4370832" y="4462272"/>
            <a:ext cx="128016" cy="128016"/>
          </a:xfrm>
          <a:prstGeom prst="ellipse">
            <a:avLst/>
          </a:prstGeom>
          <a:solidFill>
            <a:srgbClr val="00F5A0"/>
          </a:solidFill>
          <a:ln/>
        </p:spPr>
      </p:sp>
      <p:pic>
        <p:nvPicPr>
          <p:cNvPr id="27" name="Image 4" descr="preencoded.png">    </p:cNvPr>
          <p:cNvPicPr>
            <a:picLocks noChangeAspect="1"/>
          </p:cNvPicPr>
          <p:nvPr/>
        </p:nvPicPr>
        <p:blipFill>
          <a:blip r:embed="rId5"/>
          <a:stretch>
            <a:fillRect/>
          </a:stretch>
        </p:blipFill>
        <p:spPr>
          <a:xfrm>
            <a:off x="4434840" y="4754880"/>
            <a:ext cx="365760" cy="365760"/>
          </a:xfrm>
          <a:prstGeom prst="rect">
            <a:avLst/>
          </a:prstGeom>
        </p:spPr>
      </p:pic>
      <p:sp>
        <p:nvSpPr>
          <p:cNvPr id="28" name="Text 21"/>
          <p:cNvSpPr/>
          <p:nvPr/>
        </p:nvSpPr>
        <p:spPr>
          <a:xfrm>
            <a:off x="4937760" y="4745736"/>
            <a:ext cx="2743200" cy="36576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Hardware Key Integration</a:t>
            </a:r>
            <a:endParaRPr lang="en-US" sz="1250" dirty="0"/>
          </a:p>
        </p:txBody>
      </p:sp>
      <p:sp>
        <p:nvSpPr>
          <p:cNvPr id="29" name="Text 22"/>
          <p:cNvSpPr/>
          <p:nvPr/>
        </p:nvSpPr>
        <p:spPr>
          <a:xfrm>
            <a:off x="4434840" y="5184648"/>
            <a:ext cx="3291840" cy="594360"/>
          </a:xfrm>
          <a:prstGeom prst="rect">
            <a:avLst/>
          </a:prstGeom>
          <a:noFill/>
          <a:ln/>
        </p:spPr>
        <p:txBody>
          <a:bodyPr wrap="square" lIns="0" tIns="0" rIns="0" bIns="0" rtlCol="0" anchor="ctr"/>
          <a:lstStyle/>
          <a:p>
            <a:pPr indent="0" marL="0">
              <a:lnSpc>
                <a:spcPct val="110000"/>
              </a:lnSpc>
              <a:buNone/>
            </a:pPr>
            <a:r>
              <a:rPr lang="en-US" sz="1050" dirty="0">
                <a:solidFill>
                  <a:srgbClr val="8B98B0"/>
                </a:solidFill>
                <a:latin typeface="Calibri" pitchFamily="34" charset="0"/>
                <a:ea typeface="Calibri" pitchFamily="34" charset="-122"/>
                <a:cs typeface="Calibri" pitchFamily="34" charset="-120"/>
              </a:rPr>
              <a:t>YubiKey-backed signing for operator credentials.</a:t>
            </a:r>
            <a:endParaRPr lang="en-US" sz="1050" dirty="0"/>
          </a:p>
        </p:txBody>
      </p:sp>
      <p:sp>
        <p:nvSpPr>
          <p:cNvPr id="30" name="Shape 23"/>
          <p:cNvSpPr/>
          <p:nvPr/>
        </p:nvSpPr>
        <p:spPr>
          <a:xfrm>
            <a:off x="7891272" y="4462272"/>
            <a:ext cx="128016" cy="128016"/>
          </a:xfrm>
          <a:prstGeom prst="ellipse">
            <a:avLst/>
          </a:prstGeom>
          <a:solidFill>
            <a:srgbClr val="00F5A0"/>
          </a:solidFill>
          <a:ln/>
        </p:spPr>
      </p:sp>
      <p:pic>
        <p:nvPicPr>
          <p:cNvPr id="31" name="Image 5" descr="preencoded.png">    </p:cNvPr>
          <p:cNvPicPr>
            <a:picLocks noChangeAspect="1"/>
          </p:cNvPicPr>
          <p:nvPr/>
        </p:nvPicPr>
        <p:blipFill>
          <a:blip r:embed="rId6"/>
          <a:stretch>
            <a:fillRect/>
          </a:stretch>
        </p:blipFill>
        <p:spPr>
          <a:xfrm>
            <a:off x="7955280" y="4754880"/>
            <a:ext cx="365760" cy="365760"/>
          </a:xfrm>
          <a:prstGeom prst="rect">
            <a:avLst/>
          </a:prstGeom>
        </p:spPr>
      </p:pic>
      <p:sp>
        <p:nvSpPr>
          <p:cNvPr id="32" name="Text 24"/>
          <p:cNvSpPr/>
          <p:nvPr/>
        </p:nvSpPr>
        <p:spPr>
          <a:xfrm>
            <a:off x="8458200" y="4745736"/>
            <a:ext cx="2743200" cy="365760"/>
          </a:xfrm>
          <a:prstGeom prst="rect">
            <a:avLst/>
          </a:prstGeom>
          <a:noFill/>
          <a:ln/>
        </p:spPr>
        <p:txBody>
          <a:bodyPr wrap="square" lIns="0" tIns="0" rIns="0" bIns="0" rtlCol="0" anchor="ctr"/>
          <a:lstStyle/>
          <a:p>
            <a:pPr indent="0" marL="0">
              <a:buNone/>
            </a:pPr>
            <a:r>
              <a:rPr lang="en-US" sz="1250" b="1" dirty="0">
                <a:solidFill>
                  <a:srgbClr val="F5F7FA"/>
                </a:solidFill>
                <a:latin typeface="Calibri" pitchFamily="34" charset="0"/>
                <a:ea typeface="Calibri" pitchFamily="34" charset="-122"/>
                <a:cs typeface="Calibri" pitchFamily="34" charset="-120"/>
              </a:rPr>
              <a:t>Automated Low-Risk Rollbacks</a:t>
            </a:r>
            <a:endParaRPr lang="en-US" sz="1250" dirty="0"/>
          </a:p>
        </p:txBody>
      </p:sp>
      <p:sp>
        <p:nvSpPr>
          <p:cNvPr id="33" name="Text 25"/>
          <p:cNvSpPr/>
          <p:nvPr/>
        </p:nvSpPr>
        <p:spPr>
          <a:xfrm>
            <a:off x="7955280" y="5184648"/>
            <a:ext cx="3291840" cy="594360"/>
          </a:xfrm>
          <a:prstGeom prst="rect">
            <a:avLst/>
          </a:prstGeom>
          <a:noFill/>
          <a:ln/>
        </p:spPr>
        <p:txBody>
          <a:bodyPr wrap="square" lIns="0" tIns="0" rIns="0" bIns="0" rtlCol="0" anchor="ctr"/>
          <a:lstStyle/>
          <a:p>
            <a:pPr indent="0" marL="0">
              <a:lnSpc>
                <a:spcPct val="110000"/>
              </a:lnSpc>
              <a:buNone/>
            </a:pPr>
            <a:r>
              <a:rPr lang="en-US" sz="1050" dirty="0">
                <a:solidFill>
                  <a:srgbClr val="8B98B0"/>
                </a:solidFill>
                <a:latin typeface="Calibri" pitchFamily="34" charset="0"/>
                <a:ea typeface="Calibri" pitchFamily="34" charset="-122"/>
                <a:cs typeface="Calibri" pitchFamily="34" charset="-120"/>
              </a:rPr>
              <a:t>Policy-driven auto-approval for bounded blast radius.</a:t>
            </a:r>
            <a:endParaRPr lang="en-US" sz="1050" dirty="0"/>
          </a:p>
        </p:txBody>
      </p:sp>
      <p:sp>
        <p:nvSpPr>
          <p:cNvPr id="34" name="Shape 26"/>
          <p:cNvSpPr/>
          <p:nvPr/>
        </p:nvSpPr>
        <p:spPr>
          <a:xfrm>
            <a:off x="548640" y="5806440"/>
            <a:ext cx="11091672" cy="621792"/>
          </a:xfrm>
          <a:prstGeom prst="roundRect">
            <a:avLst>
              <a:gd name="adj" fmla="val 11765"/>
            </a:avLst>
          </a:prstGeom>
          <a:solidFill>
            <a:srgbClr val="1B2740"/>
          </a:solidFill>
          <a:ln w="12700">
            <a:solidFill>
              <a:srgbClr val="00F5A0"/>
            </a:solidFill>
            <a:prstDash val="solid"/>
          </a:ln>
        </p:spPr>
      </p:sp>
      <p:sp>
        <p:nvSpPr>
          <p:cNvPr id="35" name="Text 27"/>
          <p:cNvSpPr/>
          <p:nvPr/>
        </p:nvSpPr>
        <p:spPr>
          <a:xfrm>
            <a:off x="548640" y="5806440"/>
            <a:ext cx="11091672" cy="621792"/>
          </a:xfrm>
          <a:prstGeom prst="rect">
            <a:avLst/>
          </a:prstGeom>
          <a:noFill/>
          <a:ln/>
        </p:spPr>
        <p:txBody>
          <a:bodyPr wrap="square" lIns="0" tIns="0" rIns="0" bIns="0" rtlCol="0" anchor="ctr"/>
          <a:lstStyle/>
          <a:p>
            <a:pPr algn="ctr" indent="0" marL="0">
              <a:buNone/>
            </a:pPr>
            <a:r>
              <a:rPr lang="en-US" sz="1500" b="1" i="1" dirty="0">
                <a:solidFill>
                  <a:srgbClr val="00F5A0"/>
                </a:solidFill>
                <a:latin typeface="Cambria" pitchFamily="34" charset="0"/>
                <a:ea typeface="Cambria" pitchFamily="34" charset="-122"/>
                <a:cs typeface="Cambria" pitchFamily="34" charset="-120"/>
              </a:rPr>
              <a:t>Speed of AI autonomy. Absolute guardrails of human authority.</a:t>
            </a:r>
            <a:endParaRPr lang="en-US" sz="1500" dirty="0"/>
          </a:p>
        </p:txBody>
      </p:sp>
      <p:sp>
        <p:nvSpPr>
          <p:cNvPr id="36" name="Text 28"/>
          <p:cNvSpPr/>
          <p:nvPr/>
        </p:nvSpPr>
        <p:spPr>
          <a:xfrm>
            <a:off x="548640" y="6528816"/>
            <a:ext cx="4572000" cy="256032"/>
          </a:xfrm>
          <a:prstGeom prst="rect">
            <a:avLst/>
          </a:prstGeom>
          <a:noFill/>
          <a:ln/>
        </p:spPr>
        <p:txBody>
          <a:bodyPr wrap="square" lIns="0" tIns="0" rIns="0" bIns="0" rtlCol="0" anchor="ctr"/>
          <a:lstStyle/>
          <a:p>
            <a:pPr indent="0" marL="0">
              <a:buNone/>
            </a:pPr>
            <a:r>
              <a:rPr lang="en-US" sz="900" spc="150" kern="0" dirty="0">
                <a:solidFill>
                  <a:srgbClr val="5B6A87"/>
                </a:solidFill>
                <a:latin typeface="Courier New" pitchFamily="34" charset="0"/>
                <a:ea typeface="Courier New" pitchFamily="34" charset="-122"/>
                <a:cs typeface="Courier New" pitchFamily="34" charset="-120"/>
              </a:rPr>
              <a:t>ZERO-TRUST-COMMANDER</a:t>
            </a:r>
            <a:endParaRPr lang="en-US" sz="900" dirty="0"/>
          </a:p>
        </p:txBody>
      </p:sp>
      <p:sp>
        <p:nvSpPr>
          <p:cNvPr id="37" name="Text 29"/>
          <p:cNvSpPr/>
          <p:nvPr/>
        </p:nvSpPr>
        <p:spPr>
          <a:xfrm>
            <a:off x="4114800" y="6528816"/>
            <a:ext cx="4114800" cy="256032"/>
          </a:xfrm>
          <a:prstGeom prst="rect">
            <a:avLst/>
          </a:prstGeom>
          <a:noFill/>
          <a:ln/>
        </p:spPr>
        <p:txBody>
          <a:bodyPr wrap="square" lIns="0" tIns="0" rIns="0" bIns="0" rtlCol="0" anchor="ctr"/>
          <a:lstStyle/>
          <a:p>
            <a:pPr algn="ctr" indent="0" marL="0">
              <a:buNone/>
            </a:pPr>
            <a:r>
              <a:rPr lang="en-US" sz="900" dirty="0">
                <a:solidFill>
                  <a:srgbClr val="5B6A87"/>
                </a:solidFill>
                <a:latin typeface="Courier New" pitchFamily="34" charset="0"/>
                <a:ea typeface="Courier New" pitchFamily="34" charset="-122"/>
                <a:cs typeface="Courier New" pitchFamily="34" charset="-120"/>
              </a:rPr>
              <a:t>VALUE PROPOSITION &amp; ROADMAP</a:t>
            </a:r>
            <a:endParaRPr lang="en-US" sz="900" dirty="0"/>
          </a:p>
        </p:txBody>
      </p:sp>
      <p:sp>
        <p:nvSpPr>
          <p:cNvPr id="38" name="Text 30"/>
          <p:cNvSpPr/>
          <p:nvPr/>
        </p:nvSpPr>
        <p:spPr>
          <a:xfrm>
            <a:off x="10728655" y="6528816"/>
            <a:ext cx="914400" cy="256032"/>
          </a:xfrm>
          <a:prstGeom prst="rect">
            <a:avLst/>
          </a:prstGeom>
          <a:noFill/>
          <a:ln/>
        </p:spPr>
        <p:txBody>
          <a:bodyPr wrap="square" lIns="0" tIns="0" rIns="0" bIns="0" rtlCol="0" anchor="ctr"/>
          <a:lstStyle/>
          <a:p>
            <a:pPr algn="r" indent="0" marL="0">
              <a:buNone/>
            </a:pPr>
            <a:r>
              <a:rPr lang="en-US" sz="900" dirty="0">
                <a:solidFill>
                  <a:srgbClr val="5B6A87"/>
                </a:solidFill>
                <a:latin typeface="Courier New" pitchFamily="34" charset="0"/>
                <a:ea typeface="Courier New" pitchFamily="34" charset="-122"/>
                <a:cs typeface="Courier New" pitchFamily="34" charset="-120"/>
              </a:rPr>
              <a:t>07 / 07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2026-07-26T07:08:29Z</dcterms:created>
  <dcterms:modified xsi:type="dcterms:W3CDTF">2026-07-26T07:08:29Z</dcterms:modified>
</cp:coreProperties>
</file>